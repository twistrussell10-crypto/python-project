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1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d62a118d20046df" /><Relationship Type="http://schemas.openxmlformats.org/officeDocument/2006/relationships/extended-properties" Target="/docProps/app.xml" Id="Reaad2caf68204726" /><Relationship Type="http://schemas.openxmlformats.org/officeDocument/2006/relationships/officeDocument" Target="/ppt/presentation.xml" Id="R6b61041de57f428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83b871c0b55449d"/>
  </p:sldMasterIdLst>
  <p:notesMasterIdLst>
    <p:notesMasterId xmlns:r="http://schemas.openxmlformats.org/officeDocument/2006/relationships" r:id="R0b3406cb019e4a52"/>
  </p:notesMasterIdLst>
  <p:sldIdLst>
    <p:sldId xmlns:r="http://schemas.openxmlformats.org/officeDocument/2006/relationships" id="256" r:id="R0706cc85b0b249c0"/>
    <p:sldId xmlns:r="http://schemas.openxmlformats.org/officeDocument/2006/relationships" id="257" r:id="R0b665e47746e4663"/>
    <p:sldId xmlns:r="http://schemas.openxmlformats.org/officeDocument/2006/relationships" id="258" r:id="Ra2976bfa0ea74da2"/>
    <p:sldId xmlns:r="http://schemas.openxmlformats.org/officeDocument/2006/relationships" id="259" r:id="R742ea7ae120e44a7"/>
    <p:sldId xmlns:r="http://schemas.openxmlformats.org/officeDocument/2006/relationships" id="260" r:id="R4dd487a656584b7b"/>
    <p:sldId xmlns:r="http://schemas.openxmlformats.org/officeDocument/2006/relationships" id="261" r:id="R2f35a46c064f47a2"/>
    <p:sldId xmlns:r="http://schemas.openxmlformats.org/officeDocument/2006/relationships" id="262" r:id="Rb7bcf665b6664b3a"/>
    <p:sldId xmlns:r="http://schemas.openxmlformats.org/officeDocument/2006/relationships" id="263" r:id="R80f0ca0b4f574f85"/>
    <p:sldId xmlns:r="http://schemas.openxmlformats.org/officeDocument/2006/relationships" id="264" r:id="R9c002a585aa44bf1"/>
    <p:sldId xmlns:r="http://schemas.openxmlformats.org/officeDocument/2006/relationships" id="265" r:id="Rab7807a9e1174674"/>
    <p:sldId xmlns:r="http://schemas.openxmlformats.org/officeDocument/2006/relationships" id="266" r:id="Rd3c290f3f6884ea7"/>
    <p:sldId xmlns:r="http://schemas.openxmlformats.org/officeDocument/2006/relationships" id="267" r:id="R7faae285c2604271"/>
    <p:sldId xmlns:r="http://schemas.openxmlformats.org/officeDocument/2006/relationships" id="268" r:id="Rfcd43891f1e740b0"/>
    <p:sldId xmlns:r="http://schemas.openxmlformats.org/officeDocument/2006/relationships" id="269" r:id="Re6c4089103b7441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98aeb24c9d249da" /><Relationship Type="http://schemas.openxmlformats.org/officeDocument/2006/relationships/slideMaster" Target="/ppt/slideMasters/slideMaster1.xml" Id="R283b871c0b55449d" /><Relationship Type="http://schemas.openxmlformats.org/officeDocument/2006/relationships/notesMaster" Target="/ppt/notesMasters/notesMaster1.xml" Id="R0b3406cb019e4a52" /><Relationship Type="http://schemas.openxmlformats.org/officeDocument/2006/relationships/presProps" Target="/ppt/presProps.xml" Id="R7938310776f64823" /><Relationship Type="http://schemas.openxmlformats.org/officeDocument/2006/relationships/tableStyles" Target="/ppt/tableStyles.xml" Id="R12d11171f7e14769" /><Relationship Type="http://schemas.openxmlformats.org/officeDocument/2006/relationships/slide" Target="/ppt/slides/slide1.xml" Id="R0706cc85b0b249c0" /><Relationship Type="http://schemas.openxmlformats.org/officeDocument/2006/relationships/slide" Target="/ppt/slides/slide2.xml" Id="R0b665e47746e4663" /><Relationship Type="http://schemas.openxmlformats.org/officeDocument/2006/relationships/slide" Target="/ppt/slides/slide3.xml" Id="Ra2976bfa0ea74da2" /><Relationship Type="http://schemas.openxmlformats.org/officeDocument/2006/relationships/slide" Target="/ppt/slides/slide4.xml" Id="R742ea7ae120e44a7" /><Relationship Type="http://schemas.openxmlformats.org/officeDocument/2006/relationships/slide" Target="/ppt/slides/slide5.xml" Id="R4dd487a656584b7b" /><Relationship Type="http://schemas.openxmlformats.org/officeDocument/2006/relationships/slide" Target="/ppt/slides/slide6.xml" Id="R2f35a46c064f47a2" /><Relationship Type="http://schemas.openxmlformats.org/officeDocument/2006/relationships/slide" Target="/ppt/slides/slide7.xml" Id="Rb7bcf665b6664b3a" /><Relationship Type="http://schemas.openxmlformats.org/officeDocument/2006/relationships/slide" Target="/ppt/slides/slide8.xml" Id="R80f0ca0b4f574f85" /><Relationship Type="http://schemas.openxmlformats.org/officeDocument/2006/relationships/slide" Target="/ppt/slides/slide9.xml" Id="R9c002a585aa44bf1" /><Relationship Type="http://schemas.openxmlformats.org/officeDocument/2006/relationships/slide" Target="/ppt/slides/slide10.xml" Id="Rab7807a9e1174674" /><Relationship Type="http://schemas.openxmlformats.org/officeDocument/2006/relationships/slide" Target="/ppt/slides/slide11.xml" Id="Rd3c290f3f6884ea7" /><Relationship Type="http://schemas.openxmlformats.org/officeDocument/2006/relationships/slide" Target="/ppt/slides/slide12.xml" Id="R7faae285c2604271" /><Relationship Type="http://schemas.openxmlformats.org/officeDocument/2006/relationships/slide" Target="/ppt/slides/slide13.xml" Id="Rfcd43891f1e740b0" /><Relationship Type="http://schemas.openxmlformats.org/officeDocument/2006/relationships/slide" Target="/ppt/slides/slide14.xml" Id="Re6c4089103b7441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9ecfe86e8bc4b8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be7cf030c114603" /><Relationship Type="http://schemas.openxmlformats.org/officeDocument/2006/relationships/notesMaster" Target="/ppt/notesMasters/notesMaster1.xml" Id="R7fdb96ddbee844c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b35b15f99bb45ee" /><Relationship Type="http://schemas.openxmlformats.org/officeDocument/2006/relationships/notesMaster" Target="/ppt/notesMasters/notesMaster1.xml" Id="Rcae39e4c493b454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e7d161fe15c4272" /><Relationship Type="http://schemas.openxmlformats.org/officeDocument/2006/relationships/notesMaster" Target="/ppt/notesMasters/notesMaster1.xml" Id="R9c3bb71207ad45a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dbc8b4a3f8749c7" /><Relationship Type="http://schemas.openxmlformats.org/officeDocument/2006/relationships/notesMaster" Target="/ppt/notesMasters/notesMaster1.xml" Id="R7a912086794c4d1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ab5034d4c334af8" /><Relationship Type="http://schemas.openxmlformats.org/officeDocument/2006/relationships/notesMaster" Target="/ppt/notesMasters/notesMaster1.xml" Id="Rdbf39310bdc14cf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5884921f6654bde" /><Relationship Type="http://schemas.openxmlformats.org/officeDocument/2006/relationships/notesMaster" Target="/ppt/notesMasters/notesMaster1.xml" Id="R1eccbf65e2ca489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0207465a4924344" /><Relationship Type="http://schemas.openxmlformats.org/officeDocument/2006/relationships/notesMaster" Target="/ppt/notesMasters/notesMaster1.xml" Id="R64de824423dd4e0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f7a882355454a54" /><Relationship Type="http://schemas.openxmlformats.org/officeDocument/2006/relationships/notesMaster" Target="/ppt/notesMasters/notesMaster1.xml" Id="R529756b0f7de457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25c83db90954ff1" /><Relationship Type="http://schemas.openxmlformats.org/officeDocument/2006/relationships/notesMaster" Target="/ppt/notesMasters/notesMaster1.xml" Id="R911741ac5f0348a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61a996048ae4ac0" /><Relationship Type="http://schemas.openxmlformats.org/officeDocument/2006/relationships/notesMaster" Target="/ppt/notesMasters/notesMaster1.xml" Id="R2360d17eb37d425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8331e1beb424061" /><Relationship Type="http://schemas.openxmlformats.org/officeDocument/2006/relationships/notesMaster" Target="/ppt/notesMasters/notesMaster1.xml" Id="R96be8252de69451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dd2c9756c9e4aaa" /><Relationship Type="http://schemas.openxmlformats.org/officeDocument/2006/relationships/notesMaster" Target="/ppt/notesMasters/notesMaster1.xml" Id="R91d36bef8ec642b5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b0b2c5b5a16a4bcc" /><Relationship Type="http://schemas.openxmlformats.org/officeDocument/2006/relationships/notesMaster" Target="/ppt/notesMasters/notesMaster1.xml" Id="R3e94a9c08ab1469d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be62387adb634a37" /><Relationship Type="http://schemas.openxmlformats.org/officeDocument/2006/relationships/notesMaster" Target="/ppt/notesMasters/notesMaster1.xml" Id="R9d1c61061547475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大家好，本次汇报介绍 Oxford-IIIT 宠物品种分类器。项目使用 Python 和 PyTorch 完成图像分类，通过迁移学习识别数据集中的37种猫犬品种，并用 Streamlit 提供本地演示界面。我会依次介绍数据和模型、实际实验结果，以及现场演示。</a:t>
            </a:r>
          </a:p>
          <a:p xmlns:a="http://schemas.openxmlformats.org/drawingml/2006/main">
            <a:r>
              <a:t>数据来源：Oxford-IIIT Pet，https://www.robots.ox.ac.uk/~vgg/data/pets/ 。图片版权归原作者，数据集按官方页面 CC BY-SA 4.0 使用。 封面图：官方测试集 beagle_1.jpg。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输入是一张宠物照片，输出是37个已知品种中的预测结果，并给出前5名候选。37个品种中有12个猫品种和25个犬品种。这属于细粒度图像分类：既要识别猫和狗，还需要区分外形相近的品种。当前版本针对单图分类，不提供多只宠物检测、混血判定或未知品种拒识。</a:t>
            </a:r>
          </a:p>
          <a:p xmlns:a="http://schemas.openxmlformats.org/drawingml/2006/main">
            <a:r>
              <a:t>数据来源：Oxford-IIIT Pet，https://www.robots.ox.ac.uk/~vgg/data/pets/ 。图片版权归原作者，数据集按官方页面 CC BY-SA 4.0 使用。 示例图：Sphynx_2.jpg，官方测试集。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本实验使用官方 trainval 的3680张图片和官方 test 的3669张图片。只在 trainval 内按品种进行固定随机种子的分层划分，得到2944张训练图和736张验证图。训练集用于更新参数，验证集用于选择最佳轮次，最终测试集用于报告模型效果。三个名单没有交集，项目把名单写入 split.json。测试集不参与训练或模型选择。</a:t>
            </a:r>
          </a:p>
          <a:p xmlns:a="http://schemas.openxmlformats.org/drawingml/2006/main">
            <a:r>
              <a:t>证据：outputs/baseline/split.json、config.json；pet_classifier/data.py。</a:t>
            </a:r>
          </a:p>
          <a:p xmlns:a="http://schemas.openxmlformats.org/drawingml/2006/main">
            <a:r>
              <a:t>数据来源：Oxford-IIIT Pet，https://www.robots.ox.ac.uk/~vgg/data/pets/ 。图片版权归原作者，数据集按官方页面 CC BY-SA 4.0 使用。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项目分为训练和使用两个阶段。首先读取数据与标签，建立训练、验证和测试名单。训练阶段构建 MobileNetV3 模型，计算损失并反向传播，依据验证准确率保存 best.pt。评估阶段读取最佳模型，在官方测试集生成指标和误分类分析。演示时 app.py 调用 predict.py，直接加载训练好的 best.pt 完成新图片预测，不需要再次训练。</a:t>
            </a:r>
          </a:p>
          <a:p xmlns:a="http://schemas.openxmlformats.org/drawingml/2006/main">
            <a:r>
              <a:t>证据：pet_classifier/data.py、engine.py、evaluate.py、predict.py、app.py。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迁移学习利用在 ImageNet 上预训练的特征提取能力，减少从零学习图像特征的负担。项目使用 MobileNetV3-Large 的 IMAGENET1K_V2 权重，把最后的1000类输出层改成37类。当前模型共4,249,429个参数。测试和预测使用完全相同的预处理：RGB图像、短边缩放232、中心裁剪224，再进行 ImageNet 标准化。训练时另加随机裁剪、翻转和颜色扰动。</a:t>
            </a:r>
          </a:p>
          <a:p xmlns:a="http://schemas.openxmlformats.org/drawingml/2006/main">
            <a:r>
              <a:t>证据：pet_classifier/model.py、data.py；Torchvision 0.21 MobileNetV3-Large https://docs.pytorch.org/vision/0.21/models/generated/torchvision.models.mobilenet_v3_large.html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总共训练12轮。前2轮冻结特征提取部分，只更新分类头，初始学习率为0.001。第3到12轮解冻网络，主干使用0.0001、分类头使用0.0003的初始学习率，每个阶段使用余弦退火调度。优化器为 AdamW，损失是交叉熵。batch size为32，随机种子为42。实际训练设备是RTX4060 Laptop GPU。最后通过验证准确率选择第11轮权重用于测试。</a:t>
            </a:r>
          </a:p>
          <a:p xmlns:a="http://schemas.openxmlformats.org/drawingml/2006/main">
            <a:r>
              <a:t>证据：outputs/baseline/config.json、history.csv；pet_classifier/engine.py。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曲线来自真实 history.csv。训练准确率持续上升并接近100%，验证准确率在约92%附近波动，第11轮最高，为92.12%。这说明模型已经学习到数据集中的品种特征，但训练集与验证集存在泛化差距。我们保存验证表现最佳的一轮，而不是默认使用最后一轮。训练准确率受到数据增强等训练设置影响，因此曲线更适合观察趋势，不能直接把差距全部归因于单一因素。</a:t>
            </a:r>
          </a:p>
          <a:p xmlns:a="http://schemas.openxmlformats.org/drawingml/2006/main">
            <a:r>
              <a:t>证据：outputs/baseline/history.csv、evaluation/metrics.json。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最佳模型在官方测试集3669张图片上评估，第一名预测正确3326张，错误343张，Top-1准确率为90.65%。Top-5为99.37%，表示正确品种进入前五名的比例，而不是第一名准确率。Macro F1为0.9055，它对每个品种等权平均，有助于避免只关注大类。本次只是单次固定划分实验，尚未完成多种模型或多随机种子的对照。</a:t>
            </a:r>
          </a:p>
          <a:p xmlns:a="http://schemas.openxmlformats.org/drawingml/2006/main">
            <a:r>
              <a:t>证据：outputs/baseline/evaluation/metrics.json、predictions.csv。报告模型SHA256：6c46a7a4cb047ed58920038a6113757b8e10cdf3e4b85d8b441d0fd76c975c8e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表格统计真实标签到预测标签的单向误分类数量。例如，美国比特斗牛梗有22张被识别为斯塔福郡斗牛梗。右侧图片真实标签为孟加拉猫，模型却以91.69%的分数判断为埃及猫。这一案例说明 softmax 分数高也可能出错。外形相近可以解释一部分混淆，但要确定模型是否依赖背景或纹理，仍需要进一步实验。</a:t>
            </a:r>
          </a:p>
          <a:p xmlns:a="http://schemas.openxmlformats.org/drawingml/2006/main">
            <a:r>
              <a:t>证据：evaluation/predictions.csv，examples/demo_Bengal.jpg，Bengal_1，官方测试集。</a:t>
            </a:r>
          </a:p>
          <a:p xmlns:a="http://schemas.openxmlformats.org/drawingml/2006/main">
            <a:r>
              <a:t>数据来源：Oxford-IIIT Pet，https://www.robots.ox.ac.uk/~vgg/data/pets/ 。图片版权归原作者，数据集按官方页面 CC BY-SA 4.0 使用。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这张官方测试集图片的真实品种是萨摩耶犬。程序加载 best.pt，进行与验证和测试一致的预处理，计算37类分数，再经过 softmax 排序。第一名是萨摩耶犬，分数99.61%，其余候选的分数较小。单张图片结果用于说明推理过程，不能代替完整测试集准确率。界面使用CPU推理，训练时使用GPU。</a:t>
            </a:r>
          </a:p>
          <a:p xmlns:a="http://schemas.openxmlformats.org/drawingml/2006/main">
            <a:r>
              <a:t>证据：examples/demo_samoyed.jpg，samoyed_1；.report-build/evidence.json中保存的本地推理结果；pet_classifier/predict.py。</a:t>
            </a:r>
          </a:p>
          <a:p xmlns:a="http://schemas.openxmlformats.org/drawingml/2006/main">
            <a:r>
              <a:t>数据来源：Oxford-IIIT Pet，https://www.robots.ox.ac.uk/~vgg/data/pets/ 。图片版权归原作者，数据集按官方页面 CC BY-SA 4.0 使用。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轮优化针对运行和讲解体验，没有重新训练或修改模型准确率。界面展示品种中文名与英文名，支持品种搜索和猫犬筛选。对于当前会话中相同图片，程序复用已计算的结果，避免页面交互导致重复推理。启动脚本检查依赖与权重，在本机选择空闲端口，服务就绪后打开浏览器，并跳过首次邮件询问。实验结果页面新增训练曲线、各品种F1和模型文件匹配检查。</a:t>
            </a:r>
          </a:p>
          <a:p xmlns:a="http://schemas.openxmlformats.org/drawingml/2006/main">
            <a:r>
              <a:t>证据：app.py、pet_classifier/labels.py、scripts/launch_app.py、tests/test_demo.py。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ython代码描述程序如何运行，best.pt保存训练得到的模型参数，JSON保存能够直接阅读的结构化信息。classes.json记录类别顺序与名称，config.json记录训练配置，split.json记录图片名单，metrics.json记录评估指标。界面下载的 prediction.json保存当前图片的候选结果。仅有JSON不能完成预测，需要模型参数和推理代码配合。</a:t>
            </a:r>
          </a:p>
          <a:p xmlns:a="http://schemas.openxmlformats.org/drawingml/2006/main">
            <a:r>
              <a:t>证据：outputs/baseline中的产物和app.py。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演示前确认电脑已有Python环境和outputs/baseline/best.pt，双击start.bat，等待浏览器打开。保留启动终端。第一步选择官方测试集的萨摩耶样例，讲解真实标签、预测品种和候选分数。第二步换孟加拉猫样例，展示高分误判并解释局限。第三步进入实验结果页面，展示90.65%的完整测试结果。最后打开项目原理页面，说明数据、训练、评估和推理的关系。如换电脑，除了项目代码，还要单独带上被Git忽略的模型权重。</a:t>
            </a:r>
          </a:p>
          <a:p xmlns:a="http://schemas.openxmlformats.org/drawingml/2006/main">
            <a:r>
              <a:t>证据：start.bat、start_app.bat、scripts/launch_app.py、app.py、examples/manifest.json。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项目完成了从官方数据准备到模型训练、独立评估和本地演示的完整流程。以ImageNet预训练的MobileNetV3-Large为基础，在官方测试集取得90.65%的Top-1准确率。当前主要局限是相似品种混淆、对未知类别缺少拒识，以及单次训练不足以说明结果稳定性。后续可以在固定验证策略下比较增强方法与模型结构，用多随机种子验证稳定性，进一步尝试概率校准和未知类别检测。答辩时应说明：这些是后续工作，尚未完成实验。</a:t>
            </a:r>
          </a:p>
          <a:p xmlns:a="http://schemas.openxmlformats.org/drawingml/2006/main">
            <a:r>
              <a:t>实验来源：outputs/baseline/evaluation/metrics.json。项目代码：https://github.com/twistrussell10-crypto/PYTHON-PROJECT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d339c946a9a4fd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67a70a63c1a43c8" /><Relationship Type="http://schemas.openxmlformats.org/officeDocument/2006/relationships/slideLayout" Target="/ppt/slideLayouts/slideLayout1.xml" Id="R0e44a23707d3486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e44a23707d3486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3df449f1754347" /><Relationship Type="http://schemas.openxmlformats.org/officeDocument/2006/relationships/image" Target="/ppt/media/image.jpeg" Id="R58665c4cd663438f" /><Relationship Type="http://schemas.openxmlformats.org/officeDocument/2006/relationships/notesSlide" Target="/ppt/notesSlides/notesSlide1.xml" Id="Rad6c04fd8f1841a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27fc34b05843b6" /><Relationship Type="http://schemas.openxmlformats.org/officeDocument/2006/relationships/image" Target="/ppt/media/image2.jpeg" Id="Rb93d7f74e80543f7" /><Relationship Type="http://schemas.openxmlformats.org/officeDocument/2006/relationships/notesSlide" Target="/ppt/notesSlides/notesSlide2.xml" Id="Rc020d9594561491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67d09c7a564c1b" /><Relationship Type="http://schemas.openxmlformats.org/officeDocument/2006/relationships/notesSlide" Target="/ppt/notesSlides/notesSlide3.xml" Id="R73b0ed4153794e0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3d43ccc0fe455a" /><Relationship Type="http://schemas.openxmlformats.org/officeDocument/2006/relationships/notesSlide" Target="/ppt/notesSlides/notesSlide4.xml" Id="R59abd04227b842f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c75bc94459486e" /><Relationship Type="http://schemas.openxmlformats.org/officeDocument/2006/relationships/notesSlide" Target="/ppt/notesSlides/notesSlide5.xml" Id="R46018badedf34f9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60e34b71d448a4" /><Relationship Type="http://schemas.openxmlformats.org/officeDocument/2006/relationships/notesSlide" Target="/ppt/notesSlides/notesSlide6.xml" Id="R511197b5a2284f8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51480ef6274c5c" /><Relationship Type="http://schemas.openxmlformats.org/officeDocument/2006/relationships/chart" Target="/ppt/slides/charts/chart1.xml" Id="R5c3aee112d2e47fa" /><Relationship Type="http://schemas.openxmlformats.org/officeDocument/2006/relationships/notesSlide" Target="/ppt/notesSlides/notesSlide7.xml" Id="R5c116ab651a0416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eeb20080fb4472" /><Relationship Type="http://schemas.openxmlformats.org/officeDocument/2006/relationships/notesSlide" Target="/ppt/notesSlides/notesSlide8.xml" Id="R2a4b75473b0c47a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4c1f18e25f4454" /><Relationship Type="http://schemas.openxmlformats.org/officeDocument/2006/relationships/image" Target="/ppt/media/image3.jpeg" Id="Rd5bd79c4ac4f44af" /><Relationship Type="http://schemas.openxmlformats.org/officeDocument/2006/relationships/notesSlide" Target="/ppt/notesSlides/notesSlide9.xml" Id="Rca0bf2751bd44ca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c7f2faa15c4f36" /><Relationship Type="http://schemas.openxmlformats.org/officeDocument/2006/relationships/image" Target="/ppt/media/image4.jpeg" Id="Rd6e2b777f7514b0c" /><Relationship Type="http://schemas.openxmlformats.org/officeDocument/2006/relationships/notesSlide" Target="/ppt/notesSlides/notesSlide10.xml" Id="Rf20b8ebea4964d2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4a4a81c66546ed" /><Relationship Type="http://schemas.openxmlformats.org/officeDocument/2006/relationships/notesSlide" Target="/ppt/notesSlides/notesSlide11.xml" Id="R15f781dd3eb8406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8b114528ff42b3" /><Relationship Type="http://schemas.openxmlformats.org/officeDocument/2006/relationships/notesSlide" Target="/ppt/notesSlides/notesSlide12.xml" Id="Rf4b80676811847c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738defa0614e18" /><Relationship Type="http://schemas.openxmlformats.org/officeDocument/2006/relationships/notesSlide" Target="/ppt/notesSlides/notesSlide13.xml" Id="R673e658b9cc34955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784da8b6e44584" /><Relationship Type="http://schemas.openxmlformats.org/officeDocument/2006/relationships/notesSlide" Target="/ppt/notesSlides/notesSlide14.xml" Id="Rd0255a4a7e2648bf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varyColors val="0"/>
        <c:ser>
          <c:idx val="0"/>
          <c:order val="0"/>
          <c:tx>
            <c:v>训练准确率</c:v>
          </c:tx>
          <c:spPr>
            <a:ln xmlns:a="http://schemas.openxmlformats.org/drawingml/2006/main" w="28575">
              <a:solidFill>
                <a:srgbClr val="387A66"/>
              </a:solidFill>
            </a:ln>
          </c:spPr>
          <c:marker>
            <c:symbol val="circle"/>
            <c:size val="5"/>
            <c:spPr>
              <a:solidFill xmlns:a="http://schemas.openxmlformats.org/drawingml/2006/main">
                <a:srgbClr val="387A66"/>
              </a:solidFill>
            </c:spPr>
          </c:marker>
          <c:cat>
            <c:numRef>
              <c:f>'Chart Data'!$A$2:$A$13</c:f>
              <c:numCache>
                <c:formatCode>General</c:formatCode>
                <c:ptCount val="1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</c:numCache>
            </c:numRef>
          </c:cat>
          <c:val>
            <c:numRef>
              <c:f>'Chart Data'!$B$2:$B$13</c:f>
              <c:numCache>
                <c:formatCode>0%</c:formatCode>
                <c:ptCount val="12"/>
                <c:pt idx="0">
                  <c:v>0.80027174</c:v>
                </c:pt>
                <c:pt idx="1">
                  <c:v>0.94599185</c:v>
                </c:pt>
                <c:pt idx="2">
                  <c:v>0.90455163</c:v>
                </c:pt>
                <c:pt idx="3">
                  <c:v>0.95788043</c:v>
                </c:pt>
                <c:pt idx="4">
                  <c:v>0.98063859</c:v>
                </c:pt>
                <c:pt idx="5">
                  <c:v>0.98505435</c:v>
                </c:pt>
                <c:pt idx="6">
                  <c:v>0.98980978</c:v>
                </c:pt>
                <c:pt idx="7">
                  <c:v>0.9935462</c:v>
                </c:pt>
                <c:pt idx="8">
                  <c:v>0.99592391</c:v>
                </c:pt>
                <c:pt idx="9">
                  <c:v>0.99592391</c:v>
                </c:pt>
                <c:pt idx="10">
                  <c:v>0.99694293</c:v>
                </c:pt>
                <c:pt idx="11">
                  <c:v>0.99728261</c:v>
                </c:pt>
              </c:numCache>
            </c:numRef>
          </c:val>
          <c:smooth val="0"/>
        </c:ser>
        <c:ser>
          <c:idx val="1"/>
          <c:order val="1"/>
          <c:tx>
            <c:v>验证准确率</c:v>
          </c:tx>
          <c:spPr>
            <a:ln xmlns:a="http://schemas.openxmlformats.org/drawingml/2006/main" w="28575">
              <a:solidFill>
                <a:srgbClr val="B77045"/>
              </a:solidFill>
            </a:ln>
          </c:spPr>
          <c:marker>
            <c:symbol val="circle"/>
            <c:size val="5"/>
            <c:spPr>
              <a:solidFill xmlns:a="http://schemas.openxmlformats.org/drawingml/2006/main">
                <a:srgbClr val="B77045"/>
              </a:solidFill>
            </c:spPr>
          </c:marker>
          <c:cat>
            <c:numRef>
              <c:f>'Chart Data'!$C$2:$C$13</c:f>
              <c:numCache>
                <c:formatCode>General</c:formatCode>
                <c:ptCount val="1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</c:numCache>
            </c:numRef>
          </c:cat>
          <c:val>
            <c:numRef>
              <c:f>'Chart Data'!$D$2:$D$13</c:f>
              <c:numCache>
                <c:formatCode>0%</c:formatCode>
                <c:ptCount val="12"/>
                <c:pt idx="0">
                  <c:v>0.88858696</c:v>
                </c:pt>
                <c:pt idx="1">
                  <c:v>0.91032609</c:v>
                </c:pt>
                <c:pt idx="2">
                  <c:v>0.89266304</c:v>
                </c:pt>
                <c:pt idx="3">
                  <c:v>0.91032609</c:v>
                </c:pt>
                <c:pt idx="4">
                  <c:v>0.90625</c:v>
                </c:pt>
                <c:pt idx="5">
                  <c:v>0.90896739</c:v>
                </c:pt>
                <c:pt idx="6">
                  <c:v>0.90896739</c:v>
                </c:pt>
                <c:pt idx="7">
                  <c:v>0.90217391</c:v>
                </c:pt>
                <c:pt idx="8">
                  <c:v>0.91576087</c:v>
                </c:pt>
                <c:pt idx="9">
                  <c:v>0.91847826</c:v>
                </c:pt>
                <c:pt idx="10">
                  <c:v>0.92119565</c:v>
                </c:pt>
                <c:pt idx="11">
                  <c:v>0.91847826</c:v>
                </c:pt>
              </c:numCache>
            </c:numRef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Microsoft YaHei"/>
                    <a:ea typeface="Microsoft YaHei"/>
                    <a:cs typeface="Microsoft YaHei"/>
                  </a:rPr>
                  <a:t>训练轮次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223C35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ax val="1"/>
          <c:min val="0.75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DED4"/>
              </a:solidFill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223C35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  <c:majorUnit val="0.05"/>
      </c:valAx>
      <c:spPr>
        <a:solidFill xmlns:a="http://schemas.openxmlformats.org/drawingml/2006/main">
          <a:srgbClr val="F8F7F2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800">
              <a:solidFill>
                <a:srgbClr val="223C35"/>
              </a:solidFill>
              <a:latin typeface="Microsoft YaHei"/>
              <a:ea typeface="Microsoft YaHei"/>
              <a:cs typeface="Microsoft YaHei"/>
            </a:defRPr>
          </a:pPr>
        </a:p>
      </c:txPr>
    </c:legend>
    <c:plotVisOnly val="1"/>
  </c:chart>
  <c:spPr>
    <a:solidFill xmlns:a="http://schemas.openxmlformats.org/drawingml/2006/main">
      <a:srgbClr val="F8F7F2"/>
    </a:solidFill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Oxford-IIIT Pet">
            <a:extLst xmlns:a="http://schemas.openxmlformats.org/drawingml/2006/main">
              <a:ext uri="{FF2B5EF4-FFF2-40B4-BE49-F238E27FC236}">
                <a16:creationId xmlns:a16="http://schemas.microsoft.com/office/drawing/2014/main" id="{41152DB0-FF3F-44A3-BFD8-20257A3B7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62050"/>
            <a:ext cx="6096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00" b="0">
                <a:solidFill>
                  <a:srgbClr val="387A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0">
                <a:solidFill>
                  <a:srgbClr val="387A66"/>
                </a:solidFill>
                <a:latin typeface="Microsoft YaHei"/>
                <a:ea typeface="Microsoft YaHei"/>
                <a:cs typeface="Microsoft YaHei"/>
              </a:rPr>
              <a:t>Oxford-IIIT Pet</a:t>
            </a:r>
          </a:p>
        </p:txBody>
      </p:sp>
      <p:sp>
        <p:nvSpPr>
          <p:cNvPr id="2" name="宠物品种分类器">
            <a:extLst xmlns:a="http://schemas.openxmlformats.org/drawingml/2006/main">
              <a:ext uri="{FF2B5EF4-FFF2-40B4-BE49-F238E27FC236}">
                <a16:creationId xmlns:a16="http://schemas.microsoft.com/office/drawing/2014/main" id="{24BA68EF-0E50-4071-8B86-FE0033614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47875"/>
            <a:ext cx="6667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223C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650" b="1">
                <a:solidFill>
                  <a:srgbClr val="223C35"/>
                </a:solidFill>
                <a:latin typeface="Microsoft YaHei"/>
                <a:ea typeface="Microsoft YaHei"/>
                <a:cs typeface="Microsoft YaHei"/>
              </a:rPr>
              <a:t>宠物品种分类器</a:t>
            </a:r>
          </a:p>
        </p:txBody>
      </p:sp>
      <p:sp>
        <p:nvSpPr>
          <p:cNvPr id="3" name="暑期 Python 课程项目报告">
            <a:extLst xmlns:a="http://schemas.openxmlformats.org/drawingml/2006/main">
              <a:ext uri="{FF2B5EF4-FFF2-40B4-BE49-F238E27FC236}">
                <a16:creationId xmlns:a16="http://schemas.microsoft.com/office/drawing/2014/main" id="{2C6B36F7-ACD9-4A06-A86B-B8FC8933F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3850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23C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23C35"/>
                </a:solidFill>
                <a:latin typeface="Microsoft YaHei"/>
                <a:ea typeface="Microsoft YaHei"/>
                <a:cs typeface="Microsoft YaHei"/>
              </a:rPr>
              <a:t>暑期 Python 课程项目报告</a:t>
            </a:r>
          </a:p>
        </p:txBody>
      </p:sp>
      <p:sp>
        <p:nvSpPr>
          <p:cNvPr id="4" name="基于 PyTorch 与 MobileNetV3">
            <a:extLst xmlns:a="http://schemas.openxmlformats.org/drawingml/2006/main">
              <a:ext uri="{FF2B5EF4-FFF2-40B4-BE49-F238E27FC236}">
                <a16:creationId xmlns:a16="http://schemas.microsoft.com/office/drawing/2014/main" id="{447CAA63-2CDC-42C6-9E56-0461AF65D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81450"/>
            <a:ext cx="6000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66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66766E"/>
                </a:solidFill>
                <a:latin typeface="Microsoft YaHei"/>
                <a:ea typeface="Microsoft YaHei"/>
                <a:cs typeface="Microsoft YaHei"/>
              </a:rPr>
              <a:t>基于 PyTorch 与 MobileNetV3 迁移学习</a:t>
            </a:r>
          </a:p>
        </p:txBody>
      </p:sp>
      <p:sp>
        <p:nvSpPr>
          <p:cNvPr id="5" name="2026 年 9 月">
            <a:extLst xmlns:a="http://schemas.openxmlformats.org/drawingml/2006/main">
              <a:ext uri="{FF2B5EF4-FFF2-40B4-BE49-F238E27FC236}">
                <a16:creationId xmlns:a16="http://schemas.microsoft.com/office/drawing/2014/main" id="{71B7EB05-DBD1-4272-87F0-BEC0178E5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686425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66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6766E"/>
                </a:solidFill>
                <a:latin typeface="Microsoft YaHei"/>
                <a:ea typeface="Microsoft YaHei"/>
                <a:cs typeface="Microsoft YaHei"/>
              </a:rPr>
              <a:t>2026 年 9 月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665c4cd663438f"/>
          <a:stretch xmlns:a="http://schemas.openxmlformats.org/drawingml/2006/main"/>
        </p:blipFill>
        <p:spPr>
          <a:xfrm xmlns:a="http://schemas.openxmlformats.org/drawingml/2006/main">
            <a:off x="7334250" y="1643063"/>
            <a:ext cx="4286250" cy="3429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266409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项目任务与识别范围">
            <a:extLst xmlns:a="http://schemas.openxmlformats.org/drawingml/2006/main">
              <a:ext uri="{FF2B5EF4-FFF2-40B4-BE49-F238E27FC236}">
                <a16:creationId xmlns:a16="http://schemas.microsoft.com/office/drawing/2014/main" id="{9D7E97DC-4511-4D4A-9763-682CF9DC9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23C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23C35"/>
                </a:solidFill>
                <a:latin typeface="Microsoft YaHei"/>
                <a:ea typeface="Microsoft YaHei"/>
                <a:cs typeface="Microsoft YaHei"/>
              </a:rPr>
              <a:t>项目任务与识别范围</a:t>
            </a:r>
          </a:p>
        </p:txBody>
      </p:sp>
      <p:sp>
        <p:nvSpPr>
          <p:cNvPr id="2" name="输入一张照片，输出预测品种与前五名候选">
            <a:extLst xmlns:a="http://schemas.openxmlformats.org/drawingml/2006/main">
              <a:ext uri="{FF2B5EF4-FFF2-40B4-BE49-F238E27FC236}">
                <a16:creationId xmlns:a16="http://schemas.microsoft.com/office/drawing/2014/main" id="{565C2D4D-D423-4EA7-A118-E00093003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33500"/>
            <a:ext cx="1095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66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6766E"/>
                </a:solidFill>
                <a:latin typeface="Microsoft YaHei"/>
                <a:ea typeface="Microsoft YaHei"/>
                <a:cs typeface="Microsoft YaHei"/>
              </a:rPr>
              <a:t>输入一张照片，输出预测品种与前五名候选</a:t>
            </a:r>
          </a:p>
        </p:txBody>
      </p:sp>
      <p:sp>
        <p:nvSpPr>
          <p:cNvPr id="3" name="02">
            <a:extLst xmlns:a="http://schemas.openxmlformats.org/drawingml/2006/main">
              <a:ext uri="{FF2B5EF4-FFF2-40B4-BE49-F238E27FC236}">
                <a16:creationId xmlns:a16="http://schemas.microsoft.com/office/drawing/2014/main" id="{E8870031-66BF-4455-8B2B-758DBC98F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6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66E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4" name="37">
            <a:extLst xmlns:a="http://schemas.openxmlformats.org/drawingml/2006/main">
              <a:ext uri="{FF2B5EF4-FFF2-40B4-BE49-F238E27FC236}">
                <a16:creationId xmlns:a16="http://schemas.microsoft.com/office/drawing/2014/main" id="{1DC5BE00-6159-44F9-B775-E0036942E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52650"/>
            <a:ext cx="2857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6600" b="1">
                <a:solidFill>
                  <a:srgbClr val="387A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600" b="1">
                <a:solidFill>
                  <a:srgbClr val="387A66"/>
                </a:solidFill>
                <a:latin typeface="Microsoft YaHei"/>
                <a:ea typeface="Microsoft YaHei"/>
                <a:cs typeface="Microsoft YaHei"/>
              </a:rPr>
              <a:t>37</a:t>
            </a:r>
          </a:p>
        </p:txBody>
      </p:sp>
      <p:sp>
        <p:nvSpPr>
          <p:cNvPr id="5" name="个猫犬品种">
            <a:extLst xmlns:a="http://schemas.openxmlformats.org/drawingml/2006/main">
              <a:ext uri="{FF2B5EF4-FFF2-40B4-BE49-F238E27FC236}">
                <a16:creationId xmlns:a16="http://schemas.microsoft.com/office/drawing/2014/main" id="{CD83F6B4-B990-4403-BCC2-03216775E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0"/>
            <a:ext cx="314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223C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223C35"/>
                </a:solidFill>
                <a:latin typeface="Microsoft YaHei"/>
                <a:ea typeface="Microsoft YaHei"/>
                <a:cs typeface="Microsoft YaHei"/>
              </a:rPr>
              <a:t>个猫犬品种</a:t>
            </a:r>
          </a:p>
        </p:txBody>
      </p:sp>
      <p:sp>
        <p:nvSpPr>
          <p:cNvPr id="6" name="12 个猫品种&#10;25 个犬品种">
            <a:extLst xmlns:a="http://schemas.openxmlformats.org/drawingml/2006/main">
              <a:ext uri="{FF2B5EF4-FFF2-40B4-BE49-F238E27FC236}">
                <a16:creationId xmlns:a16="http://schemas.microsoft.com/office/drawing/2014/main" id="{3A910217-71F8-4D65-9E15-9445F1A00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0"/>
            <a:ext cx="39052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23C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23C35"/>
                </a:solidFill>
                <a:latin typeface="Microsoft YaHei"/>
                <a:ea typeface="Microsoft YaHei"/>
                <a:cs typeface="Microsoft YaHei"/>
              </a:rPr>
              <a:t>12 个猫品种</a:t>
            </a:r>
          </a:p>
          <a:p xmlns:a="http://schemas.openxmlformats.org/drawingml/2006/main">
            <a:pPr>
              <a:defRPr sz="2250" b="0">
                <a:solidFill>
                  <a:srgbClr val="223C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23C35"/>
                </a:solidFill>
                <a:latin typeface="Microsoft YaHei"/>
                <a:ea typeface="Microsoft YaHei"/>
                <a:cs typeface="Microsoft YaHei"/>
              </a:rPr>
              <a:t>25 个犬品种</a:t>
            </a:r>
          </a:p>
        </p:txBody>
      </p:sp>
      <p:sp>
        <p:nvSpPr>
          <p:cNvPr id="7" name="任务难点：相似品种的外形接近，&#10;同一品种的姿态、">
            <a:extLst xmlns:a="http://schemas.openxmlformats.org/drawingml/2006/main">
              <a:ext uri="{FF2B5EF4-FFF2-40B4-BE49-F238E27FC236}">
                <a16:creationId xmlns:a16="http://schemas.microsoft.com/office/drawing/2014/main" id="{4B951A9F-F784-4CF8-893C-F12291606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81625"/>
            <a:ext cx="6191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66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66766E"/>
                </a:solidFill>
                <a:latin typeface="Microsoft YaHei"/>
                <a:ea typeface="Microsoft YaHei"/>
                <a:cs typeface="Microsoft YaHei"/>
              </a:rPr>
              <a:t>任务难点：相似品种的外形接近，</a:t>
            </a:r>
          </a:p>
          <a:p xmlns:a="http://schemas.openxmlformats.org/drawingml/2006/main">
            <a:pPr>
              <a:defRPr sz="1950" b="0">
                <a:solidFill>
                  <a:srgbClr val="66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66766E"/>
                </a:solidFill>
                <a:latin typeface="Microsoft YaHei"/>
                <a:ea typeface="Microsoft YaHei"/>
                <a:cs typeface="Microsoft YaHei"/>
              </a:rPr>
              <a:t>同一品种的姿态、光照与背景不同。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3d7f74e80543f7"/>
          <a:stretch xmlns:a="http://schemas.openxmlformats.org/drawingml/2006/main"/>
        </p:blipFill>
        <p:spPr>
          <a:xfrm xmlns:a="http://schemas.openxmlformats.org/drawingml/2006/main">
            <a:off x="7048500" y="2105112"/>
            <a:ext cx="4476750" cy="3190702"/>
          </a:xfrm>
          <a:prstGeom xmlns:a="http://schemas.openxmlformats.org/drawingml/2006/main" prst="rect">
            <a:avLst/>
          </a:prstGeom>
        </p:spPr>
      </p:pic>
      <p:sp>
        <p:nvSpPr>
          <p:cNvPr id="9" name="样例：斯芬克斯猫">
            <a:extLst xmlns:a="http://schemas.openxmlformats.org/drawingml/2006/main">
              <a:ext uri="{FF2B5EF4-FFF2-40B4-BE49-F238E27FC236}">
                <a16:creationId xmlns:a16="http://schemas.microsoft.com/office/drawing/2014/main" id="{478975F7-062F-4A6C-A1E2-4F8F4C6D5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619750"/>
            <a:ext cx="419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23C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23C35"/>
                </a:solidFill>
                <a:latin typeface="Microsoft YaHei"/>
                <a:ea typeface="Microsoft YaHei"/>
                <a:cs typeface="Microsoft YaHei"/>
              </a:rPr>
              <a:t>样例：斯芬克斯猫</a:t>
            </a:r>
          </a:p>
        </p:txBody>
      </p:sp>
    </p:spTree>
    <p:extLst>
      <p:ext uri="{BB962C8B-B14F-4D97-AF65-F5344CB8AC3E}">
        <p14:creationId xmlns:p14="http://schemas.microsoft.com/office/powerpoint/2010/main" val="91985933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官方数据划分与验证策略">
            <a:extLst xmlns:a="http://schemas.openxmlformats.org/drawingml/2006/main">
              <a:ext uri="{FF2B5EF4-FFF2-40B4-BE49-F238E27FC236}">
                <a16:creationId xmlns:a16="http://schemas.microsoft.com/office/drawing/2014/main" id="{BE40E5A6-6C10-4F06-9501-A8DB9FA49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23C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23C35"/>
                </a:solidFill>
                <a:latin typeface="Microsoft YaHei"/>
                <a:ea typeface="Microsoft YaHei"/>
                <a:cs typeface="Microsoft YaHei"/>
              </a:rPr>
              <a:t>官方数据划分与验证策略</a:t>
            </a:r>
          </a:p>
        </p:txBody>
      </p:sp>
      <p:sp>
        <p:nvSpPr>
          <p:cNvPr id="2" name="7,349 张官方划分图片，训练与测试名单相互独">
            <a:extLst xmlns:a="http://schemas.openxmlformats.org/drawingml/2006/main">
              <a:ext uri="{FF2B5EF4-FFF2-40B4-BE49-F238E27FC236}">
                <a16:creationId xmlns:a16="http://schemas.microsoft.com/office/drawing/2014/main" id="{6DBAF739-8FE9-476C-BC04-E241BE538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33500"/>
            <a:ext cx="1095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66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6766E"/>
                </a:solidFill>
                <a:latin typeface="Microsoft YaHei"/>
                <a:ea typeface="Microsoft YaHei"/>
                <a:cs typeface="Microsoft YaHei"/>
              </a:rPr>
              <a:t>7,349 张官方划分图片，训练与测试名单相互独立</a:t>
            </a:r>
          </a:p>
        </p:txBody>
      </p:sp>
      <p:sp>
        <p:nvSpPr>
          <p:cNvPr id="3" name="03">
            <a:extLst xmlns:a="http://schemas.openxmlformats.org/drawingml/2006/main">
              <a:ext uri="{FF2B5EF4-FFF2-40B4-BE49-F238E27FC236}">
                <a16:creationId xmlns:a16="http://schemas.microsoft.com/office/drawing/2014/main" id="{9E97E64E-844E-4808-BCEF-3CB6A875E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6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66E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09600" y="2190750"/>
          <a:ext xmlns:a="http://schemas.openxmlformats.org/drawingml/2006/main" cx="10972800" cy="2971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81250"/>
                <a:gridCol w="2190750"/>
                <a:gridCol w="6400800"/>
              </a:tblGrid>
              <a:tr h="7429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数据集</a:t>
                      </a:r>
                    </a:p>
                  </a:txBody>
                  <a:tcPr marL="152400" marR="152400" marT="114300" marB="114300">
                    <a:solidFill>
                      <a:srgbClr val="223C3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图片数量</a:t>
                      </a:r>
                    </a:p>
                  </a:txBody>
                  <a:tcPr marL="152400" marR="152400" marT="114300" marB="114300">
                    <a:solidFill>
                      <a:srgbClr val="223C3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用途</a:t>
                      </a:r>
                    </a:p>
                  </a:txBody>
                  <a:tcPr marL="152400" marR="152400" marT="114300" marB="114300">
                    <a:solidFill>
                      <a:srgbClr val="223C35"/>
                    </a:solidFill>
                  </a:tcPr>
                </a:tc>
              </a:tr>
              <a:tr h="7429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23C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训练集</a:t>
                      </a:r>
                    </a:p>
                  </a:txBody>
                  <a:tcPr marL="152400" marR="152400" marT="114300" marB="114300">
                    <a:solidFill>
                      <a:srgbClr val="E9EEE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23C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2,944</a:t>
                      </a:r>
                    </a:p>
                  </a:txBody>
                  <a:tcPr marL="152400" marR="152400" marT="114300" marB="114300">
                    <a:solidFill>
                      <a:srgbClr val="E9EEE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23C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更新网络参数</a:t>
                      </a:r>
                    </a:p>
                  </a:txBody>
                  <a:tcPr marL="152400" marR="152400" marT="114300" marB="114300">
                    <a:solidFill>
                      <a:srgbClr val="E9EEE5"/>
                    </a:solidFill>
                  </a:tcPr>
                </a:tc>
              </a:tr>
              <a:tr h="7429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23C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验证集</a:t>
                      </a:r>
                    </a:p>
                  </a:txBody>
                  <a:tcPr marL="152400" marR="152400" marT="114300" marB="11430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23C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736</a:t>
                      </a:r>
                    </a:p>
                  </a:txBody>
                  <a:tcPr marL="152400" marR="152400" marT="114300" marB="11430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23C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选择最佳模型</a:t>
                      </a:r>
                    </a:p>
                  </a:txBody>
                  <a:tcPr marL="152400" marR="152400" marT="114300" marB="114300"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23C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官方测试集</a:t>
                      </a:r>
                    </a:p>
                  </a:txBody>
                  <a:tcPr marL="152400" marR="152400" marT="114300" marB="114300">
                    <a:solidFill>
                      <a:srgbClr val="E9EEE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23C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3,669</a:t>
                      </a:r>
                    </a:p>
                  </a:txBody>
                  <a:tcPr marL="152400" marR="152400" marT="114300" marB="114300">
                    <a:solidFill>
                      <a:srgbClr val="E9EEE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23C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最终独立评估</a:t>
                      </a:r>
                    </a:p>
                  </a:txBody>
                  <a:tcPr marL="152400" marR="152400" marT="114300" marB="114300">
                    <a:solidFill>
                      <a:srgbClr val="E9EEE5"/>
                    </a:solidFill>
                  </a:tcPr>
                </a:tc>
              </a:tr>
            </a:tbl>
          </a:graphicData>
        </a:graphic>
      </p:graphicFrame>
      <p:sp>
        <p:nvSpPr>
          <p:cNvPr id="5" name="官方 trainval 共 3,680 张，按 ">
            <a:extLst xmlns:a="http://schemas.openxmlformats.org/drawingml/2006/main">
              <a:ext uri="{FF2B5EF4-FFF2-40B4-BE49-F238E27FC236}">
                <a16:creationId xmlns:a16="http://schemas.microsoft.com/office/drawing/2014/main" id="{B4B3CDF2-D023-4682-A296-79396F69D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495925"/>
            <a:ext cx="10858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23C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23C35"/>
                </a:solidFill>
                <a:latin typeface="Microsoft YaHei"/>
                <a:ea typeface="Microsoft YaHei"/>
                <a:cs typeface="Microsoft YaHei"/>
              </a:rPr>
              <a:t>官方 trainval 共 3,680 张，按 80% / 20% 分层划分。</a:t>
            </a:r>
          </a:p>
        </p:txBody>
      </p:sp>
      <p:sp>
        <p:nvSpPr>
          <p:cNvPr id="6" name="固定种子 42，保存 split.json，便于">
            <a:extLst xmlns:a="http://schemas.openxmlformats.org/drawingml/2006/main">
              <a:ext uri="{FF2B5EF4-FFF2-40B4-BE49-F238E27FC236}">
                <a16:creationId xmlns:a16="http://schemas.microsoft.com/office/drawing/2014/main" id="{91D6E19B-A0CA-4751-8323-2198A808E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62650"/>
            <a:ext cx="1047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66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6766E"/>
                </a:solidFill>
                <a:latin typeface="Microsoft YaHei"/>
                <a:ea typeface="Microsoft YaHei"/>
                <a:cs typeface="Microsoft YaHei"/>
              </a:rPr>
              <a:t>固定种子 42，保存 split.json，便于复查与复现。</a:t>
            </a:r>
          </a:p>
        </p:txBody>
      </p:sp>
    </p:spTree>
    <p:extLst>
      <p:ext uri="{BB962C8B-B14F-4D97-AF65-F5344CB8AC3E}">
        <p14:creationId xmlns:p14="http://schemas.microsoft.com/office/powerpoint/2010/main" val="179234674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项目整体流程">
            <a:extLst xmlns:a="http://schemas.openxmlformats.org/drawingml/2006/main">
              <a:ext uri="{FF2B5EF4-FFF2-40B4-BE49-F238E27FC236}">
                <a16:creationId xmlns:a16="http://schemas.microsoft.com/office/drawing/2014/main" id="{7DF06599-68BD-43C0-B97E-8AA2F0A16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23C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23C35"/>
                </a:solidFill>
                <a:latin typeface="Microsoft YaHei"/>
                <a:ea typeface="Microsoft YaHei"/>
                <a:cs typeface="Microsoft YaHei"/>
              </a:rPr>
              <a:t>项目整体流程</a:t>
            </a:r>
          </a:p>
        </p:txBody>
      </p:sp>
      <p:sp>
        <p:nvSpPr>
          <p:cNvPr id="2" name="04">
            <a:extLst xmlns:a="http://schemas.openxmlformats.org/drawingml/2006/main">
              <a:ext uri="{FF2B5EF4-FFF2-40B4-BE49-F238E27FC236}">
                <a16:creationId xmlns:a16="http://schemas.microsoft.com/office/drawing/2014/main" id="{BC8A68BE-6359-4D42-A372-B5510E11F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6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66E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09600" y="1657350"/>
          <a:ext xmlns:a="http://schemas.openxmlformats.org/drawingml/2006/main" cx="10972800" cy="4114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905000"/>
                <a:gridCol w="3333750"/>
                <a:gridCol w="5734050"/>
              </a:tblGrid>
              <a:tr h="6858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阶段</a:t>
                      </a:r>
                    </a:p>
                  </a:txBody>
                  <a:tcPr marL="152400" marR="152400" marT="114300" marB="114300">
                    <a:solidFill>
                      <a:srgbClr val="223C3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核心文件</a:t>
                      </a:r>
                    </a:p>
                  </a:txBody>
                  <a:tcPr marL="152400" marR="152400" marT="114300" marB="114300">
                    <a:solidFill>
                      <a:srgbClr val="223C3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输出或作用</a:t>
                      </a:r>
                    </a:p>
                  </a:txBody>
                  <a:tcPr marL="152400" marR="152400" marT="114300" marB="114300">
                    <a:solidFill>
                      <a:srgbClr val="223C35"/>
                    </a:solidFill>
                  </a:tcPr>
                </a:tc>
              </a:tr>
              <a:tr h="6858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23C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准备数据</a:t>
                      </a:r>
                    </a:p>
                  </a:txBody>
                  <a:tcPr marL="152400" marR="152400" marT="114300" marB="114300">
                    <a:solidFill>
                      <a:srgbClr val="E9EEE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23C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data.py</a:t>
                      </a:r>
                    </a:p>
                  </a:txBody>
                  <a:tcPr marL="152400" marR="152400" marT="114300" marB="114300">
                    <a:solidFill>
                      <a:srgbClr val="E9EEE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23C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标签、划分与图像预处理</a:t>
                      </a:r>
                    </a:p>
                  </a:txBody>
                  <a:tcPr marL="152400" marR="152400" marT="114300" marB="114300">
                    <a:solidFill>
                      <a:srgbClr val="E9EEE5"/>
                    </a:solidFill>
                  </a:tcPr>
                </a:tc>
              </a:tr>
              <a:tr h="6858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23C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训练模型</a:t>
                      </a:r>
                    </a:p>
                  </a:txBody>
                  <a:tcPr marL="152400" marR="152400" marT="114300" marB="11430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23C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model.py / engine.py</a:t>
                      </a:r>
                    </a:p>
                  </a:txBody>
                  <a:tcPr marL="152400" marR="152400" marT="114300" marB="11430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23C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按验证准确率保存 best.pt</a:t>
                      </a:r>
                    </a:p>
                  </a:txBody>
                  <a:tcPr marL="152400" marR="152400" marT="114300" marB="11430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23C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评估模型</a:t>
                      </a:r>
                    </a:p>
                  </a:txBody>
                  <a:tcPr marL="152400" marR="152400" marT="114300" marB="114300">
                    <a:solidFill>
                      <a:srgbClr val="E9EEE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23C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evaluate.py</a:t>
                      </a:r>
                    </a:p>
                  </a:txBody>
                  <a:tcPr marL="152400" marR="152400" marT="114300" marB="114300">
                    <a:solidFill>
                      <a:srgbClr val="E9EEE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23C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指标、预测明细、混淆矩阵</a:t>
                      </a:r>
                    </a:p>
                  </a:txBody>
                  <a:tcPr marL="152400" marR="152400" marT="114300" marB="114300">
                    <a:solidFill>
                      <a:srgbClr val="E9EEE5"/>
                    </a:solidFill>
                  </a:tcPr>
                </a:tc>
              </a:tr>
              <a:tr h="6858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23C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图片推理</a:t>
                      </a:r>
                    </a:p>
                  </a:txBody>
                  <a:tcPr marL="152400" marR="152400" marT="114300" marB="11430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23C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predict.py</a:t>
                      </a:r>
                    </a:p>
                  </a:txBody>
                  <a:tcPr marL="152400" marR="152400" marT="114300" marB="11430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23C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37 类分数与前五名候选</a:t>
                      </a:r>
                    </a:p>
                  </a:txBody>
                  <a:tcPr marL="152400" marR="152400" marT="114300" marB="11430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23C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浏览器展示</a:t>
                      </a:r>
                    </a:p>
                  </a:txBody>
                  <a:tcPr marL="152400" marR="152400" marT="114300" marB="114300">
                    <a:solidFill>
                      <a:srgbClr val="E9EEE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23C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app.py</a:t>
                      </a:r>
                    </a:p>
                  </a:txBody>
                  <a:tcPr marL="152400" marR="152400" marT="114300" marB="114300">
                    <a:solidFill>
                      <a:srgbClr val="E9EEE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23C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图片上传、中文结果与实验报告</a:t>
                      </a:r>
                    </a:p>
                  </a:txBody>
                  <a:tcPr marL="152400" marR="152400" marT="114300" marB="114300">
                    <a:solidFill>
                      <a:srgbClr val="E9EEE5"/>
                    </a:solidFill>
                  </a:tcPr>
                </a:tc>
              </a:tr>
            </a:tbl>
          </a:graphicData>
        </a:graphic>
      </p:graphicFrame>
      <p:sp>
        <p:nvSpPr>
          <p:cNvPr id="4" name="训练完成后，演示程序直接使用保存的模型。">
            <a:extLst xmlns:a="http://schemas.openxmlformats.org/drawingml/2006/main">
              <a:ext uri="{FF2B5EF4-FFF2-40B4-BE49-F238E27FC236}">
                <a16:creationId xmlns:a16="http://schemas.microsoft.com/office/drawing/2014/main" id="{97AE08A5-2BE7-4A1C-887D-987961DC6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029325"/>
            <a:ext cx="1057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387A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387A66"/>
                </a:solidFill>
                <a:latin typeface="Microsoft YaHei"/>
                <a:ea typeface="Microsoft YaHei"/>
                <a:cs typeface="Microsoft YaHei"/>
              </a:rPr>
              <a:t>训练完成后，演示程序直接使用保存的模型。</a:t>
            </a:r>
          </a:p>
        </p:txBody>
      </p:sp>
    </p:spTree>
    <p:extLst>
      <p:ext uri="{BB962C8B-B14F-4D97-AF65-F5344CB8AC3E}">
        <p14:creationId xmlns:p14="http://schemas.microsoft.com/office/powerpoint/2010/main" val="114952580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MobileNetV3 迁移学习">
            <a:extLst xmlns:a="http://schemas.openxmlformats.org/drawingml/2006/main">
              <a:ext uri="{FF2B5EF4-FFF2-40B4-BE49-F238E27FC236}">
                <a16:creationId xmlns:a16="http://schemas.microsoft.com/office/drawing/2014/main" id="{48FFEB3B-1320-47BF-9483-E0BCF59EE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23C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23C35"/>
                </a:solidFill>
                <a:latin typeface="Microsoft YaHei"/>
                <a:ea typeface="Microsoft YaHei"/>
                <a:cs typeface="Microsoft YaHei"/>
              </a:rPr>
              <a:t>MobileNetV3 迁移学习</a:t>
            </a:r>
          </a:p>
        </p:txBody>
      </p:sp>
      <p:sp>
        <p:nvSpPr>
          <p:cNvPr id="2" name="05">
            <a:extLst xmlns:a="http://schemas.openxmlformats.org/drawingml/2006/main">
              <a:ext uri="{FF2B5EF4-FFF2-40B4-BE49-F238E27FC236}">
                <a16:creationId xmlns:a16="http://schemas.microsoft.com/office/drawing/2014/main" id="{D8FB2242-319A-4FFA-ADF0-CDBDB5F89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6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66E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3" name="ImageNet 预训练主干">
            <a:extLst xmlns:a="http://schemas.openxmlformats.org/drawingml/2006/main">
              <a:ext uri="{FF2B5EF4-FFF2-40B4-BE49-F238E27FC236}">
                <a16:creationId xmlns:a16="http://schemas.microsoft.com/office/drawing/2014/main" id="{D8A4CCAB-80F5-43A7-BE70-8602EB245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52600"/>
            <a:ext cx="1047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387A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387A66"/>
                </a:solidFill>
                <a:latin typeface="Microsoft YaHei"/>
                <a:ea typeface="Microsoft YaHei"/>
                <a:cs typeface="Microsoft YaHei"/>
              </a:rPr>
              <a:t>ImageNet 预训练主干</a:t>
            </a:r>
          </a:p>
        </p:txBody>
      </p:sp>
      <p:sp>
        <p:nvSpPr>
          <p:cNvPr id="4" name="保留通用视觉特征，最后一层改为 37 类输出。">
            <a:extLst xmlns:a="http://schemas.openxmlformats.org/drawingml/2006/main">
              <a:ext uri="{FF2B5EF4-FFF2-40B4-BE49-F238E27FC236}">
                <a16:creationId xmlns:a16="http://schemas.microsoft.com/office/drawing/2014/main" id="{E26FAF9E-2B08-4007-A6D5-6894F2125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43150"/>
            <a:ext cx="10572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23C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23C35"/>
                </a:solidFill>
                <a:latin typeface="Microsoft YaHei"/>
                <a:ea typeface="Microsoft YaHei"/>
                <a:cs typeface="Microsoft YaHei"/>
              </a:rPr>
              <a:t>保留通用视觉特征，最后一层改为 37 类输出。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3143250"/>
          <a:ext xmlns:a="http://schemas.openxmlformats.org/drawingml/2006/main" cx="10972800" cy="2762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333750"/>
                <a:gridCol w="7639050"/>
              </a:tblGrid>
              <a:tr h="5524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处理部分</a:t>
                      </a:r>
                    </a:p>
                  </a:txBody>
                  <a:tcPr marL="152400" marR="152400" marT="114300" marB="114300">
                    <a:solidFill>
                      <a:srgbClr val="223C3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输入 / 输出</a:t>
                      </a:r>
                    </a:p>
                  </a:txBody>
                  <a:tcPr marL="152400" marR="152400" marT="114300" marB="114300">
                    <a:solidFill>
                      <a:srgbClr val="223C35"/>
                    </a:solidFill>
                  </a:tcPr>
                </a:tc>
              </a:tr>
              <a:tr h="5524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23C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图像预处理</a:t>
                      </a:r>
                    </a:p>
                  </a:txBody>
                  <a:tcPr marL="152400" marR="152400" marT="114300" marB="114300">
                    <a:solidFill>
                      <a:srgbClr val="E9EEE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23C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RGB，缩放 232，中心裁剪 224 × 224</a:t>
                      </a:r>
                    </a:p>
                  </a:txBody>
                  <a:tcPr marL="152400" marR="152400" marT="114300" marB="114300">
                    <a:solidFill>
                      <a:srgbClr val="E9EEE5"/>
                    </a:solidFill>
                  </a:tcPr>
                </a:tc>
              </a:tr>
              <a:tr h="5524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23C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特征提取与池化</a:t>
                      </a:r>
                    </a:p>
                  </a:txBody>
                  <a:tcPr marL="152400" marR="152400" marT="114300" marB="11430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23C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MobileNetV3-Large，得到图像特征</a:t>
                      </a:r>
                    </a:p>
                  </a:txBody>
                  <a:tcPr marL="152400" marR="152400" marT="114300" marB="114300">
                    <a:solidFill>
                      <a:srgbClr val="FFFFFF"/>
                    </a:solidFill>
                  </a:tcPr>
                </a:tc>
              </a:tr>
              <a:tr h="5524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23C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分类头</a:t>
                      </a:r>
                    </a:p>
                  </a:txBody>
                  <a:tcPr marL="152400" marR="152400" marT="114300" marB="114300">
                    <a:solidFill>
                      <a:srgbClr val="E9EEE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23C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1280 维特征，线性输出 37 个分数</a:t>
                      </a:r>
                    </a:p>
                  </a:txBody>
                  <a:tcPr marL="152400" marR="152400" marT="114300" marB="114300">
                    <a:solidFill>
                      <a:srgbClr val="E9EEE5"/>
                    </a:solidFill>
                  </a:tcPr>
                </a:tc>
              </a:tr>
              <a:tr h="5524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23C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概率与排序</a:t>
                      </a:r>
                    </a:p>
                  </a:txBody>
                  <a:tcPr marL="152400" marR="152400" marT="114300" marB="11430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23C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softmax 后按分数选取前 5 名</a:t>
                      </a:r>
                    </a:p>
                  </a:txBody>
                  <a:tcPr marL="152400" marR="152400" marT="114300" marB="1143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模型参数：4,249,429　　训练后权重文件：">
            <a:extLst xmlns:a="http://schemas.openxmlformats.org/drawingml/2006/main">
              <a:ext uri="{FF2B5EF4-FFF2-40B4-BE49-F238E27FC236}">
                <a16:creationId xmlns:a16="http://schemas.microsoft.com/office/drawing/2014/main" id="{3D80CEF5-BC86-4AA7-9992-6AA56F94D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048375"/>
            <a:ext cx="1047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66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6766E"/>
                </a:solidFill>
                <a:latin typeface="Microsoft YaHei"/>
                <a:ea typeface="Microsoft YaHei"/>
                <a:cs typeface="Microsoft YaHei"/>
              </a:rPr>
              <a:t>模型参数：4,249,429　　训练后权重文件：约 17.2 MB</a:t>
            </a:r>
          </a:p>
        </p:txBody>
      </p:sp>
    </p:spTree>
    <p:extLst>
      <p:ext uri="{BB962C8B-B14F-4D97-AF65-F5344CB8AC3E}">
        <p14:creationId xmlns:p14="http://schemas.microsoft.com/office/powerpoint/2010/main" val="4147106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两阶段训练设置">
            <a:extLst xmlns:a="http://schemas.openxmlformats.org/drawingml/2006/main">
              <a:ext uri="{FF2B5EF4-FFF2-40B4-BE49-F238E27FC236}">
                <a16:creationId xmlns:a16="http://schemas.microsoft.com/office/drawing/2014/main" id="{848E698B-6FD6-4964-B1F4-33AF5C2A6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23C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23C35"/>
                </a:solidFill>
                <a:latin typeface="Microsoft YaHei"/>
                <a:ea typeface="Microsoft YaHei"/>
                <a:cs typeface="Microsoft YaHei"/>
              </a:rPr>
              <a:t>两阶段训练设置</a:t>
            </a:r>
          </a:p>
        </p:txBody>
      </p:sp>
      <p:sp>
        <p:nvSpPr>
          <p:cNvPr id="2" name="12 轮训练，以验证准确率选择 best.pt">
            <a:extLst xmlns:a="http://schemas.openxmlformats.org/drawingml/2006/main">
              <a:ext uri="{FF2B5EF4-FFF2-40B4-BE49-F238E27FC236}">
                <a16:creationId xmlns:a16="http://schemas.microsoft.com/office/drawing/2014/main" id="{B800A62D-4EFE-468A-8E94-5C8D84863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33500"/>
            <a:ext cx="1095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66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6766E"/>
                </a:solidFill>
                <a:latin typeface="Microsoft YaHei"/>
                <a:ea typeface="Microsoft YaHei"/>
                <a:cs typeface="Microsoft YaHei"/>
              </a:rPr>
              <a:t>12 轮训练，以验证准确率选择 best.pt</a:t>
            </a:r>
          </a:p>
        </p:txBody>
      </p:sp>
      <p:sp>
        <p:nvSpPr>
          <p:cNvPr id="3" name="06">
            <a:extLst xmlns:a="http://schemas.openxmlformats.org/drawingml/2006/main">
              <a:ext uri="{FF2B5EF4-FFF2-40B4-BE49-F238E27FC236}">
                <a16:creationId xmlns:a16="http://schemas.microsoft.com/office/drawing/2014/main" id="{7123864D-54C4-4377-8E16-1A86045E4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6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66E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09600" y="2171700"/>
          <a:ext xmlns:a="http://schemas.openxmlformats.org/drawingml/2006/main" cx="10972800" cy="29337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571750"/>
                <a:gridCol w="3524250"/>
                <a:gridCol w="4876800"/>
              </a:tblGrid>
              <a:tr h="7334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设置</a:t>
                      </a:r>
                    </a:p>
                  </a:txBody>
                  <a:tcPr marL="152400" marR="152400" marT="114300" marB="114300">
                    <a:solidFill>
                      <a:srgbClr val="223C3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第 1–2 轮</a:t>
                      </a:r>
                    </a:p>
                  </a:txBody>
                  <a:tcPr marL="152400" marR="152400" marT="114300" marB="114300">
                    <a:solidFill>
                      <a:srgbClr val="223C3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第 3–12 轮</a:t>
                      </a:r>
                    </a:p>
                  </a:txBody>
                  <a:tcPr marL="152400" marR="152400" marT="114300" marB="114300">
                    <a:solidFill>
                      <a:srgbClr val="223C35"/>
                    </a:solidFill>
                  </a:tcPr>
                </a:tc>
              </a:tr>
              <a:tr h="7334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223C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参数更新</a:t>
                      </a:r>
                    </a:p>
                  </a:txBody>
                  <a:tcPr marL="152400" marR="152400" marT="114300" marB="114300">
                    <a:solidFill>
                      <a:srgbClr val="E9EEE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223C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仅分类头</a:t>
                      </a:r>
                    </a:p>
                  </a:txBody>
                  <a:tcPr marL="152400" marR="152400" marT="114300" marB="114300">
                    <a:solidFill>
                      <a:srgbClr val="E9EEE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223C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主干与分类头</a:t>
                      </a:r>
                    </a:p>
                  </a:txBody>
                  <a:tcPr marL="152400" marR="152400" marT="114300" marB="114300">
                    <a:solidFill>
                      <a:srgbClr val="E9EEE5"/>
                    </a:solidFill>
                  </a:tcPr>
                </a:tc>
              </a:tr>
              <a:tr h="7334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223C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初始学习率</a:t>
                      </a:r>
                    </a:p>
                  </a:txBody>
                  <a:tcPr marL="152400" marR="152400" marT="114300" marB="11430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223C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分类头 0.001</a:t>
                      </a:r>
                    </a:p>
                  </a:txBody>
                  <a:tcPr marL="152400" marR="152400" marT="114300" marB="11430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223C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主干 0.0001</a:t>
                      </a:r>
                    </a:p>
                    <a:p>
                      <a:r>
                        <a:rPr sz="1950" b="0">
                          <a:solidFill>
                            <a:srgbClr val="223C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分类头 0.0003</a:t>
                      </a:r>
                    </a:p>
                  </a:txBody>
                  <a:tcPr marL="152400" marR="152400" marT="114300" marB="114300">
                    <a:solidFill>
                      <a:srgbClr val="FFFFFF"/>
                    </a:solidFill>
                  </a:tcPr>
                </a:tc>
              </a:tr>
              <a:tr h="7334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223C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学习率调度</a:t>
                      </a:r>
                    </a:p>
                  </a:txBody>
                  <a:tcPr marL="152400" marR="152400" marT="114300" marB="114300">
                    <a:solidFill>
                      <a:srgbClr val="E9EEE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223C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余弦退火</a:t>
                      </a:r>
                    </a:p>
                  </a:txBody>
                  <a:tcPr marL="152400" marR="152400" marT="114300" marB="114300">
                    <a:solidFill>
                      <a:srgbClr val="E9EEE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223C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余弦退火</a:t>
                      </a:r>
                    </a:p>
                  </a:txBody>
                  <a:tcPr marL="152400" marR="152400" marT="114300" marB="114300">
                    <a:solidFill>
                      <a:srgbClr val="E9EEE5"/>
                    </a:solidFill>
                  </a:tcPr>
                </a:tc>
              </a:tr>
            </a:tbl>
          </a:graphicData>
        </a:graphic>
      </p:graphicFrame>
      <p:sp>
        <p:nvSpPr>
          <p:cNvPr id="5" name="AdamW + 交叉熵　　batch size ">
            <a:extLst xmlns:a="http://schemas.openxmlformats.org/drawingml/2006/main">
              <a:ext uri="{FF2B5EF4-FFF2-40B4-BE49-F238E27FC236}">
                <a16:creationId xmlns:a16="http://schemas.microsoft.com/office/drawing/2014/main" id="{192805BE-C125-461D-B093-BFBAF20CB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467350"/>
            <a:ext cx="1057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387A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387A66"/>
                </a:solidFill>
                <a:latin typeface="Microsoft YaHei"/>
                <a:ea typeface="Microsoft YaHei"/>
                <a:cs typeface="Microsoft YaHei"/>
              </a:rPr>
              <a:t>AdamW + 交叉熵　　batch size 32　　seed 42</a:t>
            </a:r>
          </a:p>
        </p:txBody>
      </p:sp>
      <p:sp>
        <p:nvSpPr>
          <p:cNvPr id="6" name="训练设备：NVIDIA GeForce RTX ">
            <a:extLst xmlns:a="http://schemas.openxmlformats.org/drawingml/2006/main">
              <a:ext uri="{FF2B5EF4-FFF2-40B4-BE49-F238E27FC236}">
                <a16:creationId xmlns:a16="http://schemas.microsoft.com/office/drawing/2014/main" id="{66E8B3DA-9ABB-41E5-8486-FF0D1BBF7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72175"/>
            <a:ext cx="1057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66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6766E"/>
                </a:solidFill>
                <a:latin typeface="Microsoft YaHei"/>
                <a:ea typeface="Microsoft YaHei"/>
                <a:cs typeface="Microsoft YaHei"/>
              </a:rPr>
              <a:t>训练设备：NVIDIA GeForce RTX 4060 Laptop GPU</a:t>
            </a:r>
          </a:p>
        </p:txBody>
      </p:sp>
    </p:spTree>
    <p:extLst>
      <p:ext uri="{BB962C8B-B14F-4D97-AF65-F5344CB8AC3E}">
        <p14:creationId xmlns:p14="http://schemas.microsoft.com/office/powerpoint/2010/main" val="4616436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验证准确率在第 11 轮达到 92.12%">
            <a:extLst xmlns:a="http://schemas.openxmlformats.org/drawingml/2006/main">
              <a:ext uri="{FF2B5EF4-FFF2-40B4-BE49-F238E27FC236}">
                <a16:creationId xmlns:a16="http://schemas.microsoft.com/office/drawing/2014/main" id="{39782EF6-CB51-41BE-B2BF-5BC4DB749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23C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23C35"/>
                </a:solidFill>
                <a:latin typeface="Microsoft YaHei"/>
                <a:ea typeface="Microsoft YaHei"/>
                <a:cs typeface="Microsoft YaHei"/>
              </a:rPr>
              <a:t>验证准确率在第 11 轮达到 92.12%</a:t>
            </a:r>
          </a:p>
        </p:txBody>
      </p:sp>
      <p:sp>
        <p:nvSpPr>
          <p:cNvPr id="2" name="07">
            <a:extLst xmlns:a="http://schemas.openxmlformats.org/drawingml/2006/main">
              <a:ext uri="{FF2B5EF4-FFF2-40B4-BE49-F238E27FC236}">
                <a16:creationId xmlns:a16="http://schemas.microsoft.com/office/drawing/2014/main" id="{C4C2C645-CFA2-4E34-9E34-F639A776D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6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66E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graphicFrame>
        <p:nvGraphicFramePr>
          <p:cNvPr id="7" name="Chart"/>
          <p:cNvGraphicFramePr/>
          <p:nvPr/>
        </p:nvGraphicFramePr>
        <p:xfrm>
          <a:off xmlns:a="http://schemas.openxmlformats.org/drawingml/2006/main" x="552450" y="1685925"/>
          <a:ext xmlns:a="http://schemas.openxmlformats.org/drawingml/2006/main" cx="11001375" cy="3857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c3aee112d2e47fa"/>
          </a:graphicData>
        </a:graphic>
      </p:graphicFrame>
      <p:sp>
        <p:nvSpPr>
          <p:cNvPr id="4" name="训练准确率接近 100%，验证准确率约 92%，">
            <a:extLst xmlns:a="http://schemas.openxmlformats.org/drawingml/2006/main">
              <a:ext uri="{FF2B5EF4-FFF2-40B4-BE49-F238E27FC236}">
                <a16:creationId xmlns:a16="http://schemas.microsoft.com/office/drawing/2014/main" id="{A5CD9E7D-AC6E-4D55-8B78-2F9123F87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781675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387A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387A66"/>
                </a:solidFill>
                <a:latin typeface="Microsoft YaHei"/>
                <a:ea typeface="Microsoft YaHei"/>
                <a:cs typeface="Microsoft YaHei"/>
              </a:rPr>
              <a:t>训练准确率接近 100%，验证准确率约 92%，仍有泛化差距。</a:t>
            </a:r>
          </a:p>
        </p:txBody>
      </p:sp>
    </p:spTree>
    <p:extLst>
      <p:ext uri="{BB962C8B-B14F-4D97-AF65-F5344CB8AC3E}">
        <p14:creationId xmlns:p14="http://schemas.microsoft.com/office/powerpoint/2010/main" val="47786296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官方测试集 Top-1 准确率 90.65%">
            <a:extLst xmlns:a="http://schemas.openxmlformats.org/drawingml/2006/main">
              <a:ext uri="{FF2B5EF4-FFF2-40B4-BE49-F238E27FC236}">
                <a16:creationId xmlns:a16="http://schemas.microsoft.com/office/drawing/2014/main" id="{EBDB279A-5AA9-40D1-9DDC-4F88178F0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23C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23C35"/>
                </a:solidFill>
                <a:latin typeface="Microsoft YaHei"/>
                <a:ea typeface="Microsoft YaHei"/>
                <a:cs typeface="Microsoft YaHei"/>
              </a:rPr>
              <a:t>官方测试集 Top-1 准确率 90.65%</a:t>
            </a:r>
          </a:p>
        </p:txBody>
      </p:sp>
      <p:sp>
        <p:nvSpPr>
          <p:cNvPr id="2" name="08">
            <a:extLst xmlns:a="http://schemas.openxmlformats.org/drawingml/2006/main">
              <a:ext uri="{FF2B5EF4-FFF2-40B4-BE49-F238E27FC236}">
                <a16:creationId xmlns:a16="http://schemas.microsoft.com/office/drawing/2014/main" id="{90AE8510-B75A-49E7-930B-426BD98AF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6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66E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3" name="90.65%">
            <a:extLst xmlns:a="http://schemas.openxmlformats.org/drawingml/2006/main">
              <a:ext uri="{FF2B5EF4-FFF2-40B4-BE49-F238E27FC236}">
                <a16:creationId xmlns:a16="http://schemas.microsoft.com/office/drawing/2014/main" id="{FA0564F5-85FF-4149-AE49-C04F040CD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85925"/>
            <a:ext cx="6000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7050" b="1">
                <a:solidFill>
                  <a:srgbClr val="387A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050" b="1">
                <a:solidFill>
                  <a:srgbClr val="387A66"/>
                </a:solidFill>
                <a:latin typeface="Microsoft YaHei"/>
                <a:ea typeface="Microsoft YaHei"/>
                <a:cs typeface="Microsoft YaHei"/>
              </a:rPr>
              <a:t>90.65%</a:t>
            </a:r>
          </a:p>
        </p:txBody>
      </p:sp>
      <p:sp>
        <p:nvSpPr>
          <p:cNvPr id="4" name="3,326 / 3,669 张第一名预测正确">
            <a:extLst xmlns:a="http://schemas.openxmlformats.org/drawingml/2006/main">
              <a:ext uri="{FF2B5EF4-FFF2-40B4-BE49-F238E27FC236}">
                <a16:creationId xmlns:a16="http://schemas.microsoft.com/office/drawing/2014/main" id="{3D65841F-DF41-4827-B6D0-C85AE6C12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24175"/>
            <a:ext cx="10191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23C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23C35"/>
                </a:solidFill>
                <a:latin typeface="Microsoft YaHei"/>
                <a:ea typeface="Microsoft YaHei"/>
                <a:cs typeface="Microsoft YaHei"/>
              </a:rPr>
              <a:t>3,326 / 3,669 张第一名预测正确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3705225"/>
          <a:ext xmlns:a="http://schemas.openxmlformats.org/drawingml/2006/main" cx="10972800" cy="22479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19375"/>
                <a:gridCol w="2190750"/>
                <a:gridCol w="6162675"/>
              </a:tblGrid>
              <a:tr h="5619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指标</a:t>
                      </a:r>
                    </a:p>
                  </a:txBody>
                  <a:tcPr marL="152400" marR="152400" marT="114300" marB="114300">
                    <a:solidFill>
                      <a:srgbClr val="223C3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实测结果</a:t>
                      </a:r>
                    </a:p>
                  </a:txBody>
                  <a:tcPr marL="152400" marR="152400" marT="114300" marB="114300">
                    <a:solidFill>
                      <a:srgbClr val="223C3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含义</a:t>
                      </a:r>
                    </a:p>
                  </a:txBody>
                  <a:tcPr marL="152400" marR="152400" marT="114300" marB="114300">
                    <a:solidFill>
                      <a:srgbClr val="223C35"/>
                    </a:solidFill>
                  </a:tcPr>
                </a:tc>
              </a:tr>
              <a:tr h="5619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23C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Top-1</a:t>
                      </a:r>
                    </a:p>
                  </a:txBody>
                  <a:tcPr marL="152400" marR="152400" marT="114300" marB="114300">
                    <a:solidFill>
                      <a:srgbClr val="E9EEE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23C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90.65%</a:t>
                      </a:r>
                    </a:p>
                  </a:txBody>
                  <a:tcPr marL="152400" marR="152400" marT="114300" marB="114300">
                    <a:solidFill>
                      <a:srgbClr val="E9EEE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23C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第一名预测正确</a:t>
                      </a:r>
                    </a:p>
                  </a:txBody>
                  <a:tcPr marL="152400" marR="152400" marT="114300" marB="114300">
                    <a:solidFill>
                      <a:srgbClr val="E9EEE5"/>
                    </a:solidFill>
                  </a:tcPr>
                </a:tc>
              </a:tr>
              <a:tr h="5619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23C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Top-5</a:t>
                      </a:r>
                    </a:p>
                  </a:txBody>
                  <a:tcPr marL="152400" marR="152400" marT="114300" marB="11430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23C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99.37%</a:t>
                      </a:r>
                    </a:p>
                  </a:txBody>
                  <a:tcPr marL="152400" marR="152400" marT="114300" marB="11430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23C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正确品种位于前五名</a:t>
                      </a:r>
                    </a:p>
                  </a:txBody>
                  <a:tcPr marL="152400" marR="152400" marT="114300" marB="114300">
                    <a:solidFill>
                      <a:srgbClr val="FFFFFF"/>
                    </a:solidFill>
                  </a:tcPr>
                </a:tc>
              </a:tr>
              <a:tr h="5619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23C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Macro F1</a:t>
                      </a:r>
                    </a:p>
                  </a:txBody>
                  <a:tcPr marL="152400" marR="152400" marT="114300" marB="114300">
                    <a:solidFill>
                      <a:srgbClr val="E9EEE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23C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0.9055</a:t>
                      </a:r>
                    </a:p>
                  </a:txBody>
                  <a:tcPr marL="152400" marR="152400" marT="114300" marB="114300">
                    <a:solidFill>
                      <a:srgbClr val="E9EEE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23C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每个品种的 F1 等权平均</a:t>
                      </a:r>
                    </a:p>
                  </a:txBody>
                  <a:tcPr marL="152400" marR="152400" marT="114300" marB="114300">
                    <a:solidFill>
                      <a:srgbClr val="E9EEE5"/>
                    </a:solidFill>
                  </a:tcPr>
                </a:tc>
              </a:tr>
            </a:tbl>
          </a:graphicData>
        </a:graphic>
      </p:graphicFrame>
      <p:sp>
        <p:nvSpPr>
          <p:cNvPr id="6" name="测试集共 343 张误分类图片。模型来自验证集表">
            <a:extLst xmlns:a="http://schemas.openxmlformats.org/drawingml/2006/main">
              <a:ext uri="{FF2B5EF4-FFF2-40B4-BE49-F238E27FC236}">
                <a16:creationId xmlns:a16="http://schemas.microsoft.com/office/drawing/2014/main" id="{F25F7AF7-2A31-4C4A-94D2-0CEA54DA2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143625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6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6766E"/>
                </a:solidFill>
                <a:latin typeface="Microsoft YaHei"/>
                <a:ea typeface="Microsoft YaHei"/>
                <a:cs typeface="Microsoft YaHei"/>
              </a:rPr>
              <a:t>测试集共 343 张误分类图片。模型来自验证集表现最佳的第 11 轮。</a:t>
            </a:r>
          </a:p>
        </p:txBody>
      </p:sp>
    </p:spTree>
    <p:extLst>
      <p:ext uri="{BB962C8B-B14F-4D97-AF65-F5344CB8AC3E}">
        <p14:creationId xmlns:p14="http://schemas.microsoft.com/office/powerpoint/2010/main" val="158467366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相似品种仍然容易混淆">
            <a:extLst xmlns:a="http://schemas.openxmlformats.org/drawingml/2006/main">
              <a:ext uri="{FF2B5EF4-FFF2-40B4-BE49-F238E27FC236}">
                <a16:creationId xmlns:a16="http://schemas.microsoft.com/office/drawing/2014/main" id="{DCADBF7F-C98E-47B2-B318-A2DD56DE8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23C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23C35"/>
                </a:solidFill>
                <a:latin typeface="Microsoft YaHei"/>
                <a:ea typeface="Microsoft YaHei"/>
                <a:cs typeface="Microsoft YaHei"/>
              </a:rPr>
              <a:t>相似品种仍然容易混淆</a:t>
            </a:r>
          </a:p>
        </p:txBody>
      </p:sp>
      <p:sp>
        <p:nvSpPr>
          <p:cNvPr id="2" name="单向误分类计数来自完整测试集">
            <a:extLst xmlns:a="http://schemas.openxmlformats.org/drawingml/2006/main">
              <a:ext uri="{FF2B5EF4-FFF2-40B4-BE49-F238E27FC236}">
                <a16:creationId xmlns:a16="http://schemas.microsoft.com/office/drawing/2014/main" id="{172A6398-B868-442E-B42C-194BDFC90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33500"/>
            <a:ext cx="1095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66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6766E"/>
                </a:solidFill>
                <a:latin typeface="Microsoft YaHei"/>
                <a:ea typeface="Microsoft YaHei"/>
                <a:cs typeface="Microsoft YaHei"/>
              </a:rPr>
              <a:t>单向误分类计数来自完整测试集</a:t>
            </a:r>
          </a:p>
        </p:txBody>
      </p:sp>
      <p:sp>
        <p:nvSpPr>
          <p:cNvPr id="3" name="09">
            <a:extLst xmlns:a="http://schemas.openxmlformats.org/drawingml/2006/main">
              <a:ext uri="{FF2B5EF4-FFF2-40B4-BE49-F238E27FC236}">
                <a16:creationId xmlns:a16="http://schemas.microsoft.com/office/drawing/2014/main" id="{5BFE42C7-E4C2-4275-BB25-A27618549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6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66E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609600" y="2200275"/>
          <a:ext xmlns:a="http://schemas.openxmlformats.org/drawingml/2006/main" cx="6000750" cy="3238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524125"/>
                <a:gridCol w="2524125"/>
                <a:gridCol w="952500"/>
              </a:tblGrid>
              <a:tr h="6477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真实品种</a:t>
                      </a:r>
                    </a:p>
                  </a:txBody>
                  <a:tcPr marL="152400" marR="152400" marT="114300" marB="114300">
                    <a:solidFill>
                      <a:srgbClr val="223C3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预测品种</a:t>
                      </a:r>
                    </a:p>
                  </a:txBody>
                  <a:tcPr marL="152400" marR="152400" marT="114300" marB="114300">
                    <a:solidFill>
                      <a:srgbClr val="223C3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张数</a:t>
                      </a:r>
                    </a:p>
                  </a:txBody>
                  <a:tcPr marL="152400" marR="152400" marT="114300" marB="114300">
                    <a:solidFill>
                      <a:srgbClr val="223C35"/>
                    </a:solidFill>
                  </a:tcPr>
                </a:tc>
              </a:tr>
              <a:tr h="6477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23C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美国比特斗牛梗</a:t>
                      </a:r>
                    </a:p>
                  </a:txBody>
                  <a:tcPr marL="152400" marR="152400" marT="114300" marB="114300">
                    <a:solidFill>
                      <a:srgbClr val="E9EEE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23C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斯塔福郡斗牛梗</a:t>
                      </a:r>
                    </a:p>
                  </a:txBody>
                  <a:tcPr marL="152400" marR="152400" marT="114300" marB="114300">
                    <a:solidFill>
                      <a:srgbClr val="E9EEE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23C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22</a:t>
                      </a:r>
                    </a:p>
                  </a:txBody>
                  <a:tcPr marL="152400" marR="152400" marT="114300" marB="114300">
                    <a:solidFill>
                      <a:srgbClr val="E9EEE5"/>
                    </a:solidFill>
                  </a:tcPr>
                </a:tc>
              </a:tr>
              <a:tr h="6477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23C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埃及猫</a:t>
                      </a:r>
                    </a:p>
                  </a:txBody>
                  <a:tcPr marL="152400" marR="152400" marT="114300" marB="11430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23C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孟加拉猫</a:t>
                      </a:r>
                    </a:p>
                  </a:txBody>
                  <a:tcPr marL="152400" marR="152400" marT="114300" marB="11430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23C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18</a:t>
                      </a:r>
                    </a:p>
                  </a:txBody>
                  <a:tcPr marL="152400" marR="152400" marT="114300" marB="114300"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23C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斯塔福郡斗牛梗</a:t>
                      </a:r>
                    </a:p>
                  </a:txBody>
                  <a:tcPr marL="152400" marR="152400" marT="114300" marB="114300">
                    <a:solidFill>
                      <a:srgbClr val="E9EEE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23C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美国比特斗牛梗</a:t>
                      </a:r>
                    </a:p>
                  </a:txBody>
                  <a:tcPr marL="152400" marR="152400" marT="114300" marB="114300">
                    <a:solidFill>
                      <a:srgbClr val="E9EEE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23C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14</a:t>
                      </a:r>
                    </a:p>
                  </a:txBody>
                  <a:tcPr marL="152400" marR="152400" marT="114300" marB="114300">
                    <a:solidFill>
                      <a:srgbClr val="E9EEE5"/>
                    </a:solidFill>
                  </a:tcPr>
                </a:tc>
              </a:tr>
              <a:tr h="6477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23C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伯曼猫</a:t>
                      </a:r>
                    </a:p>
                  </a:txBody>
                  <a:tcPr marL="152400" marR="152400" marT="114300" marB="11430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23C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布偶猫</a:t>
                      </a:r>
                    </a:p>
                  </a:txBody>
                  <a:tcPr marL="152400" marR="152400" marT="114300" marB="11430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23C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13</a:t>
                      </a:r>
                    </a:p>
                  </a:txBody>
                  <a:tcPr marL="152400" marR="152400" marT="114300" marB="1143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bd79c4ac4f44af"/>
          <a:stretch xmlns:a="http://schemas.openxmlformats.org/drawingml/2006/main"/>
        </p:blipFill>
        <p:spPr>
          <a:xfrm xmlns:a="http://schemas.openxmlformats.org/drawingml/2006/main">
            <a:off x="7997453" y="1790700"/>
            <a:ext cx="2188319" cy="3286125"/>
          </a:xfrm>
          <a:prstGeom xmlns:a="http://schemas.openxmlformats.org/drawingml/2006/main" prst="rect">
            <a:avLst/>
          </a:prstGeom>
        </p:spPr>
      </p:pic>
      <p:sp>
        <p:nvSpPr>
          <p:cNvPr id="6" name="真实：孟加拉猫">
            <a:extLst xmlns:a="http://schemas.openxmlformats.org/drawingml/2006/main">
              <a:ext uri="{FF2B5EF4-FFF2-40B4-BE49-F238E27FC236}">
                <a16:creationId xmlns:a16="http://schemas.microsoft.com/office/drawing/2014/main" id="{465F51D5-FF30-450E-9DF0-CEE959555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5191125"/>
            <a:ext cx="419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23C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223C35"/>
                </a:solidFill>
                <a:latin typeface="Microsoft YaHei"/>
                <a:ea typeface="Microsoft YaHei"/>
                <a:cs typeface="Microsoft YaHei"/>
              </a:rPr>
              <a:t>真实：孟加拉猫</a:t>
            </a:r>
          </a:p>
        </p:txBody>
      </p:sp>
      <p:sp>
        <p:nvSpPr>
          <p:cNvPr id="7" name="预测：埃及猫，91.69%">
            <a:extLst xmlns:a="http://schemas.openxmlformats.org/drawingml/2006/main">
              <a:ext uri="{FF2B5EF4-FFF2-40B4-BE49-F238E27FC236}">
                <a16:creationId xmlns:a16="http://schemas.microsoft.com/office/drawing/2014/main" id="{B2CE0BC7-39CD-4790-ACFC-B628EAA14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5610225"/>
            <a:ext cx="4238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B770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B77045"/>
                </a:solidFill>
                <a:latin typeface="Microsoft YaHei"/>
                <a:ea typeface="Microsoft YaHei"/>
                <a:cs typeface="Microsoft YaHei"/>
              </a:rPr>
              <a:t>预测：埃及猫，91.69%</a:t>
            </a:r>
          </a:p>
        </p:txBody>
      </p:sp>
      <p:sp>
        <p:nvSpPr>
          <p:cNvPr id="8" name="高分也可能判断错误。">
            <a:extLst xmlns:a="http://schemas.openxmlformats.org/drawingml/2006/main">
              <a:ext uri="{FF2B5EF4-FFF2-40B4-BE49-F238E27FC236}">
                <a16:creationId xmlns:a16="http://schemas.microsoft.com/office/drawing/2014/main" id="{14A524D4-3354-4E85-B178-F3E948CDE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95975"/>
            <a:ext cx="6000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387A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387A66"/>
                </a:solidFill>
                <a:latin typeface="Microsoft YaHei"/>
                <a:ea typeface="Microsoft YaHei"/>
                <a:cs typeface="Microsoft YaHei"/>
              </a:rPr>
              <a:t>高分也可能判断错误。</a:t>
            </a:r>
          </a:p>
        </p:txBody>
      </p:sp>
    </p:spTree>
    <p:extLst>
      <p:ext uri="{BB962C8B-B14F-4D97-AF65-F5344CB8AC3E}">
        <p14:creationId xmlns:p14="http://schemas.microsoft.com/office/powerpoint/2010/main" val="123564495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单张图片的推理结果">
            <a:extLst xmlns:a="http://schemas.openxmlformats.org/drawingml/2006/main">
              <a:ext uri="{FF2B5EF4-FFF2-40B4-BE49-F238E27FC236}">
                <a16:creationId xmlns:a16="http://schemas.microsoft.com/office/drawing/2014/main" id="{7E593888-1E71-48B4-A25E-46C47F857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23C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23C35"/>
                </a:solidFill>
                <a:latin typeface="Microsoft YaHei"/>
                <a:ea typeface="Microsoft YaHei"/>
                <a:cs typeface="Microsoft YaHei"/>
              </a:rPr>
              <a:t>单张图片的推理结果</a:t>
            </a:r>
          </a:p>
        </p:txBody>
      </p:sp>
      <p:sp>
        <p:nvSpPr>
          <p:cNvPr id="2" name="示例图片：官方测试集 samoyed_1">
            <a:extLst xmlns:a="http://schemas.openxmlformats.org/drawingml/2006/main">
              <a:ext uri="{FF2B5EF4-FFF2-40B4-BE49-F238E27FC236}">
                <a16:creationId xmlns:a16="http://schemas.microsoft.com/office/drawing/2014/main" id="{34C1A056-FB34-4393-A8E6-5E50B73BF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33500"/>
            <a:ext cx="1095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66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6766E"/>
                </a:solidFill>
                <a:latin typeface="Microsoft YaHei"/>
                <a:ea typeface="Microsoft YaHei"/>
                <a:cs typeface="Microsoft YaHei"/>
              </a:rPr>
              <a:t>示例图片：官方测试集 samoyed_1</a:t>
            </a:r>
          </a:p>
        </p:txBody>
      </p:sp>
      <p:sp>
        <p:nvSpPr>
          <p:cNvPr id="3" name="10">
            <a:extLst xmlns:a="http://schemas.openxmlformats.org/drawingml/2006/main">
              <a:ext uri="{FF2B5EF4-FFF2-40B4-BE49-F238E27FC236}">
                <a16:creationId xmlns:a16="http://schemas.microsoft.com/office/drawing/2014/main" id="{0EC3D7DD-244A-4D63-BA70-D8F73B1B1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6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66E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e2b777f7514b0c"/>
          <a:stretch xmlns:a="http://schemas.openxmlformats.org/drawingml/2006/main"/>
        </p:blipFill>
        <p:spPr>
          <a:xfrm xmlns:a="http://schemas.openxmlformats.org/drawingml/2006/main">
            <a:off x="611745" y="2228850"/>
            <a:ext cx="5234459" cy="3486150"/>
          </a:xfrm>
          <a:prstGeom xmlns:a="http://schemas.openxmlformats.org/drawingml/2006/main" prst="rect">
            <a:avLst/>
          </a:prstGeom>
        </p:spPr>
      </p:pic>
      <p:graphicFrame>
        <p:nvGraphicFramePr>
          <p:cNvPr id="11" name=""/>
          <p:cNvGraphicFramePr/>
          <p:nvPr/>
        </p:nvGraphicFramePr>
        <p:xfrm>
          <a:off xmlns:a="http://schemas.openxmlformats.org/drawingml/2006/main" x="6296025" y="2162175"/>
          <a:ext xmlns:a="http://schemas.openxmlformats.org/drawingml/2006/main" cx="5276850" cy="3486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914400"/>
                <a:gridCol w="2524125"/>
                <a:gridCol w="1838325"/>
              </a:tblGrid>
              <a:tr h="5810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排名</a:t>
                      </a:r>
                    </a:p>
                  </a:txBody>
                  <a:tcPr marL="152400" marR="152400" marT="114300" marB="114300">
                    <a:solidFill>
                      <a:srgbClr val="223C3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候选品种</a:t>
                      </a:r>
                    </a:p>
                  </a:txBody>
                  <a:tcPr marL="152400" marR="152400" marT="114300" marB="114300">
                    <a:solidFill>
                      <a:srgbClr val="223C3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模型分数</a:t>
                      </a:r>
                    </a:p>
                  </a:txBody>
                  <a:tcPr marL="152400" marR="152400" marT="114300" marB="114300">
                    <a:solidFill>
                      <a:srgbClr val="223C35"/>
                    </a:solidFill>
                  </a:tcPr>
                </a:tc>
              </a:tr>
              <a:tr h="5810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23C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</a:t>
                      </a:r>
                    </a:p>
                  </a:txBody>
                  <a:tcPr marL="152400" marR="152400" marT="114300" marB="114300">
                    <a:solidFill>
                      <a:srgbClr val="E9EEE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23C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萨摩耶犬</a:t>
                      </a:r>
                    </a:p>
                  </a:txBody>
                  <a:tcPr marL="152400" marR="152400" marT="114300" marB="114300">
                    <a:solidFill>
                      <a:srgbClr val="E9EEE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23C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99.61%</a:t>
                      </a:r>
                    </a:p>
                  </a:txBody>
                  <a:tcPr marL="152400" marR="152400" marT="114300" marB="114300">
                    <a:solidFill>
                      <a:srgbClr val="E9EEE5"/>
                    </a:solidFill>
                  </a:tcPr>
                </a:tc>
              </a:tr>
              <a:tr h="5810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23C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</a:t>
                      </a:r>
                    </a:p>
                  </a:txBody>
                  <a:tcPr marL="152400" marR="152400" marT="114300" marB="11430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23C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大白熊犬</a:t>
                      </a:r>
                    </a:p>
                  </a:txBody>
                  <a:tcPr marL="152400" marR="152400" marT="114300" marB="11430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23C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0.29%</a:t>
                      </a:r>
                    </a:p>
                  </a:txBody>
                  <a:tcPr marL="152400" marR="152400" marT="114300" marB="114300"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23C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</a:t>
                      </a:r>
                    </a:p>
                  </a:txBody>
                  <a:tcPr marL="152400" marR="152400" marT="114300" marB="114300">
                    <a:solidFill>
                      <a:srgbClr val="E9EEE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23C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布偶猫</a:t>
                      </a:r>
                    </a:p>
                  </a:txBody>
                  <a:tcPr marL="152400" marR="152400" marT="114300" marB="114300">
                    <a:solidFill>
                      <a:srgbClr val="E9EEE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23C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0.06%</a:t>
                      </a:r>
                    </a:p>
                  </a:txBody>
                  <a:tcPr marL="152400" marR="152400" marT="114300" marB="114300">
                    <a:solidFill>
                      <a:srgbClr val="E9EEE5"/>
                    </a:solidFill>
                  </a:tcPr>
                </a:tc>
              </a:tr>
              <a:tr h="5810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23C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</a:t>
                      </a:r>
                    </a:p>
                  </a:txBody>
                  <a:tcPr marL="152400" marR="152400" marT="114300" marB="11430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23C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波斯猫</a:t>
                      </a:r>
                    </a:p>
                  </a:txBody>
                  <a:tcPr marL="152400" marR="152400" marT="114300" marB="11430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23C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0.02%</a:t>
                      </a:r>
                    </a:p>
                  </a:txBody>
                  <a:tcPr marL="152400" marR="152400" marT="114300" marB="114300"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23C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</a:t>
                      </a:r>
                    </a:p>
                  </a:txBody>
                  <a:tcPr marL="152400" marR="152400" marT="114300" marB="114300">
                    <a:solidFill>
                      <a:srgbClr val="E9EEE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23C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博美犬</a:t>
                      </a:r>
                    </a:p>
                  </a:txBody>
                  <a:tcPr marL="152400" marR="152400" marT="114300" marB="114300">
                    <a:solidFill>
                      <a:srgbClr val="E9EEE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23C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0.01%</a:t>
                      </a:r>
                    </a:p>
                  </a:txBody>
                  <a:tcPr marL="152400" marR="152400" marT="114300" marB="114300">
                    <a:solidFill>
                      <a:srgbClr val="E9EEE5"/>
                    </a:solidFill>
                  </a:tcPr>
                </a:tc>
              </a:tr>
            </a:tbl>
          </a:graphicData>
        </a:graphic>
      </p:graphicFrame>
      <p:sp>
        <p:nvSpPr>
          <p:cNvPr id="6" name="RGB 预处理、模型前向计算、softmax 排">
            <a:extLst xmlns:a="http://schemas.openxmlformats.org/drawingml/2006/main">
              <a:ext uri="{FF2B5EF4-FFF2-40B4-BE49-F238E27FC236}">
                <a16:creationId xmlns:a16="http://schemas.microsoft.com/office/drawing/2014/main" id="{7538DE51-FCBD-42A2-A614-152D9D811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057900"/>
            <a:ext cx="1085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66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66766E"/>
                </a:solidFill>
                <a:latin typeface="Microsoft YaHei"/>
                <a:ea typeface="Microsoft YaHei"/>
                <a:cs typeface="Microsoft YaHei"/>
              </a:rPr>
              <a:t>RGB 预处理、模型前向计算、softmax 排序，组成一次预测。</a:t>
            </a:r>
          </a:p>
        </p:txBody>
      </p:sp>
    </p:spTree>
    <p:extLst>
      <p:ext uri="{BB962C8B-B14F-4D97-AF65-F5344CB8AC3E}">
        <p14:creationId xmlns:p14="http://schemas.microsoft.com/office/powerpoint/2010/main" val="152193705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课程演示体验优化">
            <a:extLst xmlns:a="http://schemas.openxmlformats.org/drawingml/2006/main">
              <a:ext uri="{FF2B5EF4-FFF2-40B4-BE49-F238E27FC236}">
                <a16:creationId xmlns:a16="http://schemas.microsoft.com/office/drawing/2014/main" id="{5E550194-62CC-4A86-B082-2A69040DE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23C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23C35"/>
                </a:solidFill>
                <a:latin typeface="Microsoft YaHei"/>
                <a:ea typeface="Microsoft YaHei"/>
                <a:cs typeface="Microsoft YaHei"/>
              </a:rPr>
              <a:t>课程演示体验优化</a:t>
            </a:r>
          </a:p>
        </p:txBody>
      </p:sp>
      <p:sp>
        <p:nvSpPr>
          <p:cNvPr id="2" name="11">
            <a:extLst xmlns:a="http://schemas.openxmlformats.org/drawingml/2006/main">
              <a:ext uri="{FF2B5EF4-FFF2-40B4-BE49-F238E27FC236}">
                <a16:creationId xmlns:a16="http://schemas.microsoft.com/office/drawing/2014/main" id="{B44619DE-86B2-436D-B267-EDEC07CDD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6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66E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09600" y="1666875"/>
          <a:ext xmlns:a="http://schemas.openxmlformats.org/drawingml/2006/main" cx="10972800" cy="44005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28875"/>
                <a:gridCol w="8543925"/>
              </a:tblGrid>
              <a:tr h="7334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演示环节</a:t>
                      </a:r>
                    </a:p>
                  </a:txBody>
                  <a:tcPr marL="152400" marR="152400" marT="114300" marB="114300">
                    <a:solidFill>
                      <a:srgbClr val="223C3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当前功能</a:t>
                      </a:r>
                    </a:p>
                  </a:txBody>
                  <a:tcPr marL="152400" marR="152400" marT="114300" marB="114300">
                    <a:solidFill>
                      <a:srgbClr val="223C35"/>
                    </a:solidFill>
                  </a:tcPr>
                </a:tc>
              </a:tr>
              <a:tr h="7334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223C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图片识别</a:t>
                      </a:r>
                    </a:p>
                  </a:txBody>
                  <a:tcPr marL="152400" marR="152400" marT="114300" marB="114300">
                    <a:solidFill>
                      <a:srgbClr val="E9EEE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223C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中英文品种名，前五名分数，预测 JSON 下载</a:t>
                      </a:r>
                    </a:p>
                  </a:txBody>
                  <a:tcPr marL="152400" marR="152400" marT="114300" marB="114300">
                    <a:solidFill>
                      <a:srgbClr val="E9EEE5"/>
                    </a:solidFill>
                  </a:tcPr>
                </a:tc>
              </a:tr>
              <a:tr h="7334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223C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品种查询</a:t>
                      </a:r>
                    </a:p>
                  </a:txBody>
                  <a:tcPr marL="152400" marR="152400" marT="114300" marB="11430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223C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37 类中文搜索，猫 / 犬筛选</a:t>
                      </a:r>
                    </a:p>
                  </a:txBody>
                  <a:tcPr marL="152400" marR="152400" marT="114300" marB="114300">
                    <a:solidFill>
                      <a:srgbClr val="FFFFFF"/>
                    </a:solidFill>
                  </a:tcPr>
                </a:tc>
              </a:tr>
              <a:tr h="7334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223C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页面交互</a:t>
                      </a:r>
                    </a:p>
                  </a:txBody>
                  <a:tcPr marL="152400" marR="152400" marT="114300" marB="114300">
                    <a:solidFill>
                      <a:srgbClr val="E9EEE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223C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复用当前图片预测，显示本次推理耗时</a:t>
                      </a:r>
                    </a:p>
                  </a:txBody>
                  <a:tcPr marL="152400" marR="152400" marT="114300" marB="114300">
                    <a:solidFill>
                      <a:srgbClr val="E9EEE5"/>
                    </a:solidFill>
                  </a:tcPr>
                </a:tc>
              </a:tr>
              <a:tr h="7334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223C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一键启动</a:t>
                      </a:r>
                    </a:p>
                  </a:txBody>
                  <a:tcPr marL="152400" marR="152400" marT="114300" marB="11430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223C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检查环境与模型，选择空闲端口，自动打开页面</a:t>
                      </a:r>
                    </a:p>
                  </a:txBody>
                  <a:tcPr marL="152400" marR="152400" marT="114300" marB="114300">
                    <a:solidFill>
                      <a:srgbClr val="FFFFFF"/>
                    </a:solidFill>
                  </a:tcPr>
                </a:tc>
              </a:tr>
              <a:tr h="7334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223C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结果讲解</a:t>
                      </a:r>
                    </a:p>
                  </a:txBody>
                  <a:tcPr marL="152400" marR="152400" marT="114300" marB="114300">
                    <a:solidFill>
                      <a:srgbClr val="E9EEE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223C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训练曲线、各品种 F1、混淆矩阵与错误样例</a:t>
                      </a:r>
                    </a:p>
                  </a:txBody>
                  <a:tcPr marL="152400" marR="152400" marT="114300" marB="114300">
                    <a:solidFill>
                      <a:srgbClr val="E9EEE5"/>
                    </a:solidFill>
                  </a:tcPr>
                </a:tc>
              </a:tr>
            </a:tbl>
          </a:graphicData>
        </a:graphic>
      </p:graphicFrame>
      <p:sp>
        <p:nvSpPr>
          <p:cNvPr id="4" name="本轮改进演示功能，实验指标沿用同一份已训练模型。">
            <a:extLst xmlns:a="http://schemas.openxmlformats.org/drawingml/2006/main">
              <a:ext uri="{FF2B5EF4-FFF2-40B4-BE49-F238E27FC236}">
                <a16:creationId xmlns:a16="http://schemas.microsoft.com/office/drawing/2014/main" id="{FB97BF9C-44D2-4362-8196-CDD1D1D1E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22935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6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6766E"/>
                </a:solidFill>
                <a:latin typeface="Microsoft YaHei"/>
                <a:ea typeface="Microsoft YaHei"/>
                <a:cs typeface="Microsoft YaHei"/>
              </a:rPr>
              <a:t>本轮改进演示功能，实验指标沿用同一份已训练模型。</a:t>
            </a:r>
          </a:p>
        </p:txBody>
      </p:sp>
    </p:spTree>
    <p:extLst>
      <p:ext uri="{BB962C8B-B14F-4D97-AF65-F5344CB8AC3E}">
        <p14:creationId xmlns:p14="http://schemas.microsoft.com/office/powerpoint/2010/main" val="202783663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代码、模型与 JSON 文件的分工">
            <a:extLst xmlns:a="http://schemas.openxmlformats.org/drawingml/2006/main">
              <a:ext uri="{FF2B5EF4-FFF2-40B4-BE49-F238E27FC236}">
                <a16:creationId xmlns:a16="http://schemas.microsoft.com/office/drawing/2014/main" id="{80BFC5F8-7DE6-470D-924D-F20CB1866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23C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23C35"/>
                </a:solidFill>
                <a:latin typeface="Microsoft YaHei"/>
                <a:ea typeface="Microsoft YaHei"/>
                <a:cs typeface="Microsoft YaHei"/>
              </a:rPr>
              <a:t>代码、模型与 JSON 文件的分工</a:t>
            </a:r>
          </a:p>
        </p:txBody>
      </p:sp>
      <p:sp>
        <p:nvSpPr>
          <p:cNvPr id="2" name="12">
            <a:extLst xmlns:a="http://schemas.openxmlformats.org/drawingml/2006/main">
              <a:ext uri="{FF2B5EF4-FFF2-40B4-BE49-F238E27FC236}">
                <a16:creationId xmlns:a16="http://schemas.microsoft.com/office/drawing/2014/main" id="{2D130AD0-1D2E-4CD5-8314-CFC8378CE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6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66E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09600" y="1638300"/>
          <a:ext xmlns:a="http://schemas.openxmlformats.org/drawingml/2006/main" cx="10972800" cy="45339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952875"/>
                <a:gridCol w="7019925"/>
              </a:tblGrid>
              <a:tr h="6477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文件</a:t>
                      </a:r>
                    </a:p>
                  </a:txBody>
                  <a:tcPr marL="152400" marR="152400" marT="114300" marB="114300">
                    <a:solidFill>
                      <a:srgbClr val="223C3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内容与用途</a:t>
                      </a:r>
                    </a:p>
                  </a:txBody>
                  <a:tcPr marL="152400" marR="152400" marT="114300" marB="114300">
                    <a:solidFill>
                      <a:srgbClr val="223C35"/>
                    </a:solidFill>
                  </a:tcPr>
                </a:tc>
              </a:tr>
              <a:tr h="6477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23C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app.py / predict.py</a:t>
                      </a:r>
                    </a:p>
                  </a:txBody>
                  <a:tcPr marL="152400" marR="152400" marT="114300" marB="114300">
                    <a:solidFill>
                      <a:srgbClr val="E9EEE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23C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界面与单张图片预测逻辑</a:t>
                      </a:r>
                    </a:p>
                  </a:txBody>
                  <a:tcPr marL="152400" marR="152400" marT="114300" marB="114300">
                    <a:solidFill>
                      <a:srgbClr val="E9EEE5"/>
                    </a:solidFill>
                  </a:tcPr>
                </a:tc>
              </a:tr>
              <a:tr h="6477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23C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best.pt</a:t>
                      </a:r>
                    </a:p>
                  </a:txBody>
                  <a:tcPr marL="152400" marR="152400" marT="114300" marB="11430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23C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模型参数及推理所需的类别映射与配置</a:t>
                      </a:r>
                    </a:p>
                  </a:txBody>
                  <a:tcPr marL="152400" marR="152400" marT="114300" marB="114300"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23C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classes.json</a:t>
                      </a:r>
                    </a:p>
                  </a:txBody>
                  <a:tcPr marL="152400" marR="152400" marT="114300" marB="114300">
                    <a:solidFill>
                      <a:srgbClr val="E9EEE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23C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37 个类别的编号、名称和物种</a:t>
                      </a:r>
                    </a:p>
                  </a:txBody>
                  <a:tcPr marL="152400" marR="152400" marT="114300" marB="114300">
                    <a:solidFill>
                      <a:srgbClr val="E9EEE5"/>
                    </a:solidFill>
                  </a:tcPr>
                </a:tc>
              </a:tr>
              <a:tr h="6477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23C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config.json / split.json</a:t>
                      </a:r>
                    </a:p>
                  </a:txBody>
                  <a:tcPr marL="152400" marR="152400" marT="114300" marB="11430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23C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训练参数、数据来源与划分名单</a:t>
                      </a:r>
                    </a:p>
                  </a:txBody>
                  <a:tcPr marL="152400" marR="152400" marT="114300" marB="114300"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23C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metrics.json</a:t>
                      </a:r>
                    </a:p>
                  </a:txBody>
                  <a:tcPr marL="152400" marR="152400" marT="114300" marB="114300">
                    <a:solidFill>
                      <a:srgbClr val="E9EEE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23C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测试准确率、F1 与模型标识</a:t>
                      </a:r>
                    </a:p>
                  </a:txBody>
                  <a:tcPr marL="152400" marR="152400" marT="114300" marB="114300">
                    <a:solidFill>
                      <a:srgbClr val="E9EEE5"/>
                    </a:solidFill>
                  </a:tcPr>
                </a:tc>
              </a:tr>
              <a:tr h="6477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23C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prediction.json</a:t>
                      </a:r>
                    </a:p>
                  </a:txBody>
                  <a:tcPr marL="152400" marR="152400" marT="114300" marB="11430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23C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从界面下载的当前图片预测结果</a:t>
                      </a:r>
                    </a:p>
                  </a:txBody>
                  <a:tcPr marL="152400" marR="152400" marT="114300" marB="1143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JSON 便于保存和交换信息，best.pt 提">
            <a:extLst xmlns:a="http://schemas.openxmlformats.org/drawingml/2006/main">
              <a:ext uri="{FF2B5EF4-FFF2-40B4-BE49-F238E27FC236}">
                <a16:creationId xmlns:a16="http://schemas.microsoft.com/office/drawing/2014/main" id="{A06817D0-DAE3-4B30-A7DB-4255B995E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22935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6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6766E"/>
                </a:solidFill>
                <a:latin typeface="Microsoft YaHei"/>
                <a:ea typeface="Microsoft YaHei"/>
                <a:cs typeface="Microsoft YaHei"/>
              </a:rPr>
              <a:t>JSON 便于保存和交换信息，best.pt 提供模型学到的参数。</a:t>
            </a:r>
          </a:p>
        </p:txBody>
      </p:sp>
    </p:spTree>
    <p:extLst>
      <p:ext uri="{BB962C8B-B14F-4D97-AF65-F5344CB8AC3E}">
        <p14:creationId xmlns:p14="http://schemas.microsoft.com/office/powerpoint/2010/main" val="60000486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现场演示顺序">
            <a:extLst xmlns:a="http://schemas.openxmlformats.org/drawingml/2006/main">
              <a:ext uri="{FF2B5EF4-FFF2-40B4-BE49-F238E27FC236}">
                <a16:creationId xmlns:a16="http://schemas.microsoft.com/office/drawing/2014/main" id="{5D088401-F810-43C2-AC4C-10348E968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23C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23C35"/>
                </a:solidFill>
                <a:latin typeface="Microsoft YaHei"/>
                <a:ea typeface="Microsoft YaHei"/>
                <a:cs typeface="Microsoft YaHei"/>
              </a:rPr>
              <a:t>现场演示顺序</a:t>
            </a:r>
          </a:p>
        </p:txBody>
      </p:sp>
      <p:sp>
        <p:nvSpPr>
          <p:cNvPr id="2" name="展示入口：双击 start.bat，保留启动终端">
            <a:extLst xmlns:a="http://schemas.openxmlformats.org/drawingml/2006/main">
              <a:ext uri="{FF2B5EF4-FFF2-40B4-BE49-F238E27FC236}">
                <a16:creationId xmlns:a16="http://schemas.microsoft.com/office/drawing/2014/main" id="{7ADFAF60-FF52-4079-9257-DC1F7C359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33500"/>
            <a:ext cx="1095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66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6766E"/>
                </a:solidFill>
                <a:latin typeface="Microsoft YaHei"/>
                <a:ea typeface="Microsoft YaHei"/>
                <a:cs typeface="Microsoft YaHei"/>
              </a:rPr>
              <a:t>展示入口：双击 start.bat，保留启动终端</a:t>
            </a:r>
          </a:p>
        </p:txBody>
      </p:sp>
      <p:sp>
        <p:nvSpPr>
          <p:cNvPr id="3" name="13">
            <a:extLst xmlns:a="http://schemas.openxmlformats.org/drawingml/2006/main">
              <a:ext uri="{FF2B5EF4-FFF2-40B4-BE49-F238E27FC236}">
                <a16:creationId xmlns:a16="http://schemas.microsoft.com/office/drawing/2014/main" id="{A076593C-5625-43A1-817B-C9028C125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6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66E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sp>
        <p:nvSpPr>
          <p:cNvPr id="4" name="01">
            <a:extLst xmlns:a="http://schemas.openxmlformats.org/drawingml/2006/main">
              <a:ext uri="{FF2B5EF4-FFF2-40B4-BE49-F238E27FC236}">
                <a16:creationId xmlns:a16="http://schemas.microsoft.com/office/drawing/2014/main" id="{77EDFD57-3004-4C62-8BC9-E64301359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52650"/>
            <a:ext cx="857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387A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387A66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5" name="选择萨摩耶示例">
            <a:extLst xmlns:a="http://schemas.openxmlformats.org/drawingml/2006/main">
              <a:ext uri="{FF2B5EF4-FFF2-40B4-BE49-F238E27FC236}">
                <a16:creationId xmlns:a16="http://schemas.microsoft.com/office/drawing/2014/main" id="{D66493D9-4693-41F9-B66F-4129D6C9A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2152650"/>
            <a:ext cx="4429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223C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23C35"/>
                </a:solidFill>
                <a:latin typeface="Microsoft YaHei"/>
                <a:ea typeface="Microsoft YaHei"/>
                <a:cs typeface="Microsoft YaHei"/>
              </a:rPr>
              <a:t>选择萨摩耶示例</a:t>
            </a:r>
          </a:p>
        </p:txBody>
      </p:sp>
      <p:sp>
        <p:nvSpPr>
          <p:cNvPr id="6" name="解释真实标签、预测品种与 Top-5">
            <a:extLst xmlns:a="http://schemas.openxmlformats.org/drawingml/2006/main">
              <a:ext uri="{FF2B5EF4-FFF2-40B4-BE49-F238E27FC236}">
                <a16:creationId xmlns:a16="http://schemas.microsoft.com/office/drawing/2014/main" id="{86218C0B-4575-4F41-9D94-5463A9B25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2181225"/>
            <a:ext cx="51339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23C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23C35"/>
                </a:solidFill>
                <a:latin typeface="Microsoft YaHei"/>
                <a:ea typeface="Microsoft YaHei"/>
                <a:cs typeface="Microsoft YaHei"/>
              </a:rPr>
              <a:t>解释真实标签、预测品种与 Top-5</a:t>
            </a:r>
          </a:p>
        </p:txBody>
      </p:sp>
      <p:sp>
        <p:nvSpPr>
          <p:cNvPr id="7" name="02">
            <a:extLst xmlns:a="http://schemas.openxmlformats.org/drawingml/2006/main">
              <a:ext uri="{FF2B5EF4-FFF2-40B4-BE49-F238E27FC236}">
                <a16:creationId xmlns:a16="http://schemas.microsoft.com/office/drawing/2014/main" id="{9781B310-78ED-4FEA-87AE-D60ED480D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19425"/>
            <a:ext cx="857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387A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387A66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8" name="切换孟加拉猫示例">
            <a:extLst xmlns:a="http://schemas.openxmlformats.org/drawingml/2006/main">
              <a:ext uri="{FF2B5EF4-FFF2-40B4-BE49-F238E27FC236}">
                <a16:creationId xmlns:a16="http://schemas.microsoft.com/office/drawing/2014/main" id="{F314BAF6-9214-4A33-9811-99768C864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3019425"/>
            <a:ext cx="4429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223C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23C35"/>
                </a:solidFill>
                <a:latin typeface="Microsoft YaHei"/>
                <a:ea typeface="Microsoft YaHei"/>
                <a:cs typeface="Microsoft YaHei"/>
              </a:rPr>
              <a:t>切换孟加拉猫示例</a:t>
            </a:r>
          </a:p>
        </p:txBody>
      </p:sp>
      <p:sp>
        <p:nvSpPr>
          <p:cNvPr id="9" name="展示一次高分误判，说明模型局限">
            <a:extLst xmlns:a="http://schemas.openxmlformats.org/drawingml/2006/main">
              <a:ext uri="{FF2B5EF4-FFF2-40B4-BE49-F238E27FC236}">
                <a16:creationId xmlns:a16="http://schemas.microsoft.com/office/drawing/2014/main" id="{0DA76E4D-0775-43B5-B3C4-2144E4B4A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3048000"/>
            <a:ext cx="51339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23C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23C35"/>
                </a:solidFill>
                <a:latin typeface="Microsoft YaHei"/>
                <a:ea typeface="Microsoft YaHei"/>
                <a:cs typeface="Microsoft YaHei"/>
              </a:rPr>
              <a:t>展示一次高分误判，说明模型局限</a:t>
            </a:r>
          </a:p>
        </p:txBody>
      </p:sp>
      <p:sp>
        <p:nvSpPr>
          <p:cNvPr id="10" name="03">
            <a:extLst xmlns:a="http://schemas.openxmlformats.org/drawingml/2006/main">
              <a:ext uri="{FF2B5EF4-FFF2-40B4-BE49-F238E27FC236}">
                <a16:creationId xmlns:a16="http://schemas.microsoft.com/office/drawing/2014/main" id="{429E99C0-2E44-44A3-A48E-F54C05A20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86200"/>
            <a:ext cx="857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387A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387A66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1" name="打开实验结果">
            <a:extLst xmlns:a="http://schemas.openxmlformats.org/drawingml/2006/main">
              <a:ext uri="{FF2B5EF4-FFF2-40B4-BE49-F238E27FC236}">
                <a16:creationId xmlns:a16="http://schemas.microsoft.com/office/drawing/2014/main" id="{ECF53C9A-C1C2-4618-972B-DE20F881D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3886200"/>
            <a:ext cx="4429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223C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23C35"/>
                </a:solidFill>
                <a:latin typeface="Microsoft YaHei"/>
                <a:ea typeface="Microsoft YaHei"/>
                <a:cs typeface="Microsoft YaHei"/>
              </a:rPr>
              <a:t>打开实验结果</a:t>
            </a:r>
          </a:p>
        </p:txBody>
      </p:sp>
      <p:sp>
        <p:nvSpPr>
          <p:cNvPr id="12" name="说明 90.65% 来自完整官方测试集">
            <a:extLst xmlns:a="http://schemas.openxmlformats.org/drawingml/2006/main">
              <a:ext uri="{FF2B5EF4-FFF2-40B4-BE49-F238E27FC236}">
                <a16:creationId xmlns:a16="http://schemas.microsoft.com/office/drawing/2014/main" id="{63A4CA00-3298-4E97-AD0A-A53F7F6C1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3914775"/>
            <a:ext cx="51339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23C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23C35"/>
                </a:solidFill>
                <a:latin typeface="Microsoft YaHei"/>
                <a:ea typeface="Microsoft YaHei"/>
                <a:cs typeface="Microsoft YaHei"/>
              </a:rPr>
              <a:t>说明 90.65% 来自完整官方测试集</a:t>
            </a:r>
          </a:p>
        </p:txBody>
      </p:sp>
      <p:sp>
        <p:nvSpPr>
          <p:cNvPr id="13" name="04">
            <a:extLst xmlns:a="http://schemas.openxmlformats.org/drawingml/2006/main">
              <a:ext uri="{FF2B5EF4-FFF2-40B4-BE49-F238E27FC236}">
                <a16:creationId xmlns:a16="http://schemas.microsoft.com/office/drawing/2014/main" id="{F85594E6-3DDD-4242-9113-81662AD80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752975"/>
            <a:ext cx="857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387A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387A66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4" name="查看项目原理">
            <a:extLst xmlns:a="http://schemas.openxmlformats.org/drawingml/2006/main">
              <a:ext uri="{FF2B5EF4-FFF2-40B4-BE49-F238E27FC236}">
                <a16:creationId xmlns:a16="http://schemas.microsoft.com/office/drawing/2014/main" id="{D4F3554D-95A2-47D9-BAA7-4B63F1877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752975"/>
            <a:ext cx="4429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223C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23C35"/>
                </a:solidFill>
                <a:latin typeface="Microsoft YaHei"/>
                <a:ea typeface="Microsoft YaHei"/>
                <a:cs typeface="Microsoft YaHei"/>
              </a:rPr>
              <a:t>查看项目原理</a:t>
            </a:r>
          </a:p>
        </p:txBody>
      </p:sp>
      <p:sp>
        <p:nvSpPr>
          <p:cNvPr id="15" name="对应数据、训练、评估和推理文件">
            <a:extLst xmlns:a="http://schemas.openxmlformats.org/drawingml/2006/main">
              <a:ext uri="{FF2B5EF4-FFF2-40B4-BE49-F238E27FC236}">
                <a16:creationId xmlns:a16="http://schemas.microsoft.com/office/drawing/2014/main" id="{FB9F83B2-901B-40AD-9F9C-055BBA540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4781550"/>
            <a:ext cx="51339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23C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23C35"/>
                </a:solidFill>
                <a:latin typeface="Microsoft YaHei"/>
                <a:ea typeface="Microsoft YaHei"/>
                <a:cs typeface="Microsoft YaHei"/>
              </a:rPr>
              <a:t>对应数据、训练、评估和推理文件</a:t>
            </a:r>
          </a:p>
        </p:txBody>
      </p:sp>
      <p:sp>
        <p:nvSpPr>
          <p:cNvPr id="16" name="换电脑演示需要另行复制 best.pt，准备好环">
            <a:extLst xmlns:a="http://schemas.openxmlformats.org/drawingml/2006/main">
              <a:ext uri="{FF2B5EF4-FFF2-40B4-BE49-F238E27FC236}">
                <a16:creationId xmlns:a16="http://schemas.microsoft.com/office/drawing/2014/main" id="{1382F86C-E3E6-45D6-B52C-683B4BA73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62650"/>
            <a:ext cx="1085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66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6766E"/>
                </a:solidFill>
                <a:latin typeface="Microsoft YaHei"/>
                <a:ea typeface="Microsoft YaHei"/>
                <a:cs typeface="Microsoft YaHei"/>
              </a:rPr>
              <a:t>换电脑演示需要另行复制 best.pt，准备好环境后可离线预测。</a:t>
            </a:r>
          </a:p>
        </p:txBody>
      </p:sp>
    </p:spTree>
    <p:extLst>
      <p:ext uri="{BB962C8B-B14F-4D97-AF65-F5344CB8AC3E}">
        <p14:creationId xmlns:p14="http://schemas.microsoft.com/office/powerpoint/2010/main" val="173529816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项目结论与后续改进">
            <a:extLst xmlns:a="http://schemas.openxmlformats.org/drawingml/2006/main">
              <a:ext uri="{FF2B5EF4-FFF2-40B4-BE49-F238E27FC236}">
                <a16:creationId xmlns:a16="http://schemas.microsoft.com/office/drawing/2014/main" id="{FD9313DE-1D72-4A22-B824-E57B0EC55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23C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23C35"/>
                </a:solidFill>
                <a:latin typeface="Microsoft YaHei"/>
                <a:ea typeface="Microsoft YaHei"/>
                <a:cs typeface="Microsoft YaHei"/>
              </a:rPr>
              <a:t>项目结论与后续改进</a:t>
            </a:r>
          </a:p>
        </p:txBody>
      </p:sp>
      <p:sp>
        <p:nvSpPr>
          <p:cNvPr id="2" name="14">
            <a:extLst xmlns:a="http://schemas.openxmlformats.org/drawingml/2006/main">
              <a:ext uri="{FF2B5EF4-FFF2-40B4-BE49-F238E27FC236}">
                <a16:creationId xmlns:a16="http://schemas.microsoft.com/office/drawing/2014/main" id="{52E190C8-927C-471E-B914-BBD8BAB0E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6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66E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sp>
        <p:nvSpPr>
          <p:cNvPr id="3" name="90.65%">
            <a:extLst xmlns:a="http://schemas.openxmlformats.org/drawingml/2006/main">
              <a:ext uri="{FF2B5EF4-FFF2-40B4-BE49-F238E27FC236}">
                <a16:creationId xmlns:a16="http://schemas.microsoft.com/office/drawing/2014/main" id="{2631F2ED-F806-4C35-B53F-E889C5B50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33550"/>
            <a:ext cx="5048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6150" b="1">
                <a:solidFill>
                  <a:srgbClr val="387A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150" b="1">
                <a:solidFill>
                  <a:srgbClr val="387A66"/>
                </a:solidFill>
                <a:latin typeface="Microsoft YaHei"/>
                <a:ea typeface="Microsoft YaHei"/>
                <a:cs typeface="Microsoft YaHei"/>
              </a:rPr>
              <a:t>90.65%</a:t>
            </a:r>
          </a:p>
        </p:txBody>
      </p:sp>
      <p:sp>
        <p:nvSpPr>
          <p:cNvPr id="4" name="官方测试集 Top-1 准确率">
            <a:extLst xmlns:a="http://schemas.openxmlformats.org/drawingml/2006/main">
              <a:ext uri="{FF2B5EF4-FFF2-40B4-BE49-F238E27FC236}">
                <a16:creationId xmlns:a16="http://schemas.microsoft.com/office/drawing/2014/main" id="{096124B1-938E-4BBD-8DD5-A0BF48D19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76550"/>
            <a:ext cx="9715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223C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23C35"/>
                </a:solidFill>
                <a:latin typeface="Microsoft YaHei"/>
                <a:ea typeface="Microsoft YaHei"/>
                <a:cs typeface="Microsoft YaHei"/>
              </a:rPr>
              <a:t>官方测试集 Top-1 准确率</a:t>
            </a:r>
          </a:p>
        </p:txBody>
      </p:sp>
      <p:sp>
        <p:nvSpPr>
          <p:cNvPr id="5" name="已完成完整分类流程，并提供可在本地运行的演示界面">
            <a:extLst xmlns:a="http://schemas.openxmlformats.org/drawingml/2006/main">
              <a:ext uri="{FF2B5EF4-FFF2-40B4-BE49-F238E27FC236}">
                <a16:creationId xmlns:a16="http://schemas.microsoft.com/office/drawing/2014/main" id="{225FABA1-9AE3-4019-A9BD-7123A1213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43300"/>
            <a:ext cx="1066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23C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23C35"/>
                </a:solidFill>
                <a:latin typeface="Microsoft YaHei"/>
                <a:ea typeface="Microsoft YaHei"/>
                <a:cs typeface="Microsoft YaHei"/>
              </a:rPr>
              <a:t>已完成完整分类流程，并提供可在本地运行的演示界面。</a:t>
            </a:r>
          </a:p>
        </p:txBody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609600" y="4095750"/>
          <a:ext xmlns:a="http://schemas.openxmlformats.org/drawingml/2006/main" cx="10972800" cy="1600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286375"/>
                <a:gridCol w="5686425"/>
              </a:tblGrid>
              <a:tr h="4000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目前的局限</a:t>
                      </a:r>
                    </a:p>
                  </a:txBody>
                  <a:tcPr marL="152400" marR="152400" marT="114300" marB="114300">
                    <a:solidFill>
                      <a:srgbClr val="223C3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下一步实验方向</a:t>
                      </a:r>
                    </a:p>
                  </a:txBody>
                  <a:tcPr marL="152400" marR="152400" marT="114300" marB="114300">
                    <a:solidFill>
                      <a:srgbClr val="223C35"/>
                    </a:solidFill>
                  </a:tcPr>
                </a:tc>
              </a:tr>
              <a:tr h="4000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3C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相近品种容易混淆</a:t>
                      </a:r>
                    </a:p>
                  </a:txBody>
                  <a:tcPr marL="152400" marR="152400" marT="114300" marB="114300">
                    <a:solidFill>
                      <a:srgbClr val="E9EEE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3C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对比数据增强与模型结构</a:t>
                      </a:r>
                    </a:p>
                  </a:txBody>
                  <a:tcPr marL="152400" marR="152400" marT="114300" marB="114300">
                    <a:solidFill>
                      <a:srgbClr val="E9EEE5"/>
                    </a:solidFill>
                  </a:tcPr>
                </a:tc>
              </a:tr>
              <a:tr h="4000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3C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分数未校准，未知图片也会被分类</a:t>
                      </a:r>
                    </a:p>
                  </a:txBody>
                  <a:tcPr marL="152400" marR="152400" marT="114300" marB="11430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3C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验证概率校准与未知类别检测</a:t>
                      </a:r>
                    </a:p>
                  </a:txBody>
                  <a:tcPr marL="152400" marR="152400" marT="114300" marB="114300"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3C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单次训练，尚无稳定性对照</a:t>
                      </a:r>
                    </a:p>
                  </a:txBody>
                  <a:tcPr marL="152400" marR="152400" marT="114300" marB="114300">
                    <a:solidFill>
                      <a:srgbClr val="E9EEE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3C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固定划分，比较多个随机种子</a:t>
                      </a:r>
                    </a:p>
                  </a:txBody>
                  <a:tcPr marL="152400" marR="152400" marT="114300" marB="114300">
                    <a:solidFill>
                      <a:srgbClr val="E9EEE5"/>
                    </a:solidFill>
                  </a:tcPr>
                </a:tc>
              </a:tr>
            </a:tbl>
          </a:graphicData>
        </a:graphic>
      </p:graphicFrame>
      <p:sp>
        <p:nvSpPr>
          <p:cNvPr id="7" name="代码仓库：github.com/twistrus">
            <a:extLst xmlns:a="http://schemas.openxmlformats.org/drawingml/2006/main">
              <a:ext uri="{FF2B5EF4-FFF2-40B4-BE49-F238E27FC236}">
                <a16:creationId xmlns:a16="http://schemas.microsoft.com/office/drawing/2014/main" id="{6C771EDF-44F9-4611-88E5-620A81B01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53175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6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66E"/>
                </a:solidFill>
                <a:latin typeface="Microsoft YaHei"/>
                <a:ea typeface="Microsoft YaHei"/>
                <a:cs typeface="Microsoft YaHei"/>
              </a:rPr>
              <a:t>代码仓库：github.com/twistrussell10-crypto/PYTHON-PROJECT</a:t>
            </a:r>
          </a:p>
        </p:txBody>
      </p:sp>
    </p:spTree>
    <p:extLst>
      <p:ext uri="{BB962C8B-B14F-4D97-AF65-F5344CB8AC3E}">
        <p14:creationId xmlns:p14="http://schemas.microsoft.com/office/powerpoint/2010/main" val="74534548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2026-09-08T01:10:54.0710000Z</dcterms:created>
  <dcterms:modified xsi:type="dcterms:W3CDTF">2026-09-08T01:10:54.0710000Z</dcterms:modified>
</coreProperties>
</file>